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_rels/presentation.xml.rels" ContentType="application/vnd.openxmlformats-package.relationships+xml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jpeg" ContentType="image/jpeg"/>
  <Override PartName="/ppt/media/image10.png" ContentType="image/png"/>
  <Override PartName="/ppt/media/image29.png" ContentType="image/png"/>
  <Override PartName="/ppt/media/image11.png" ContentType="image/png"/>
  <Override PartName="/ppt/media/image6.png" ContentType="image/png"/>
  <Override PartName="/ppt/media/image36.png" ContentType="image/png"/>
  <Override PartName="/ppt/media/image12.png" ContentType="image/png"/>
  <Override PartName="/ppt/media/image7.png" ContentType="image/png"/>
  <Override PartName="/ppt/media/image37.png" ContentType="image/png"/>
  <Override PartName="/ppt/media/image8.png" ContentType="image/png"/>
  <Override PartName="/ppt/media/image13.png" ContentType="image/png"/>
  <Override PartName="/ppt/media/image9.png" ContentType="image/png"/>
  <Override PartName="/ppt/media/image30.png" ContentType="image/png"/>
  <Override PartName="/ppt/media/image35.png" ContentType="image/png"/>
  <Override PartName="/ppt/media/image5.png" ContentType="image/png"/>
  <Override PartName="/ppt/media/image38.jpeg" ContentType="image/jpeg"/>
  <Override PartName="/ppt/media/image28.png" ContentType="image/png"/>
  <Override PartName="/ppt/media/image34.png" ContentType="image/png"/>
  <Override PartName="/ppt/media/image4.png" ContentType="image/png"/>
  <Override PartName="/ppt/media/image27.png" ContentType="image/png"/>
  <Override PartName="/ppt/media/image33.png" ContentType="image/png"/>
  <Override PartName="/ppt/media/image3.png" ContentType="image/png"/>
  <Override PartName="/ppt/media/image26.png" ContentType="image/png"/>
  <Override PartName="/ppt/media/image32.png" ContentType="image/png"/>
  <Override PartName="/ppt/media/image2.png" ContentType="image/png"/>
  <Override PartName="/ppt/media/image25.png" ContentType="image/png"/>
  <Override PartName="/ppt/media/image31.png" ContentType="image/png"/>
  <Override PartName="/ppt/media/image1.png" ContentType="image/png"/>
  <Override PartName="/ppt/media/image24.png" ContentType="image/png"/>
  <Override PartName="/ppt/media/image14.png" ContentType="image/png"/>
  <Override PartName="/ppt/slideLayouts/_rels/slideLayout9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87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0.xml" ContentType="application/vnd.openxmlformats-officedocument.presentationml.slideLayout+xml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B604EA8-EAC8-4F3F-90CE-CFB3B7D4AAE6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B1CD9B8-FAA2-4331-BAF0-37E5CD06E05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38A7DD6-3262-46F3-8CE9-43444F89C9A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1E60E5D-CD9B-4121-8CAC-D4A0BDFBC1F3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8EC14D5-8442-4351-8AAC-696EE4372C75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B6FE144-9F64-440D-8A8D-16FC5AD0E95E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B1C9B59-87C9-48D5-9F88-9301A7BD5CDE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9270336-5997-480D-87BD-A722F8CB3B84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D5E8176-C5EF-4216-8C30-AE6069473792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467A769-8E8C-4850-BF38-F308FF205259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DFA64C0-290E-43E2-AC9E-2A7587D1EF05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0AB1804-C509-420B-B516-FBEB85AFA2E7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3307CB-C803-4A53-864E-17B02A9FDD66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6BFE9C-ED83-4FC2-92CE-062AB565A527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025D16-C679-4A66-8D5F-1F3E6E62852C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FAC046-922A-4417-AF28-5AF0E0DAD82C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3EC885-44DB-42E9-B93A-8E656A2C43DD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E5B5C2-5753-4CFB-9D34-84DEA03BA8AF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F77AF1-1FAB-41EC-8422-AB6E2F0AC730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C5BFB4-6573-4670-A9F0-996DFDEDDFDE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FE74D4-D7CA-4871-ABCF-56B14652574B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44BAEA-65C6-44A2-A279-11634F810101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6DC240-8174-4FF0-BD71-3C972DE5EDF1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9D20F2-43BB-4D86-8B58-E2CF61A13515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771E292-B645-44E3-B703-705BAD001DA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C004491-E17A-45FC-B834-3A38F56629E6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1050681-1868-46F3-A4C1-2A4440506CD9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458CE9-9F57-42B4-9010-034D45538F86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E4E4F9-3CE8-41B0-8FB0-FD6915604AC0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1385DB7-6981-40C9-B89B-6C508D93CCDE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B884103-6A73-461E-80DA-17A85DCF5192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F33191D-30D4-4B59-AEA2-9362AFB09174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2E763FF-AC40-4DC3-8F5A-82791402E47B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D65B7C3-E6F7-4649-B6CD-93031E571EF1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A13D22-0A14-435F-9AE9-D8C388600C4B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F46ED4-2907-4DAA-8966-2F536967F9F3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6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1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2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3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E4B6460-B063-4157-9E06-51B59A6A04BC}" type="slidenum">
              <a:t>&lt;#&gt;</a:t>
            </a:fld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A697A3B-FA4C-403C-B5F1-BD1C92A833EB}" type="slidenum">
              <a:t>&lt;#&gt;</a:t>
            </a:fld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CB5883E-EB4F-4D5D-AEF8-184E7949829D}" type="slidenum">
              <a:t>&lt;#&gt;</a:t>
            </a:fld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ED56EA9-A727-4A18-9B52-A28223DFA463}" type="slidenum">
              <a:t>&lt;#&gt;</a:t>
            </a:fld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B0A0518-6495-468B-A114-638FEEEAC17B}" type="slidenum">
              <a:t>&lt;#&gt;</a:t>
            </a:fld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1B57EDA-4C0E-4A80-B4F4-B9DD91A8AB30}" type="slidenum">
              <a:t>&lt;#&gt;</a:t>
            </a:fld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0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1ACE7D2-F160-4EB7-AB0E-BB3ED8A23AE7}" type="slidenum">
              <a:t>&lt;#&gt;</a:t>
            </a:fld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13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43DE7B1-A89C-437A-948C-8EBAA1188D84}" type="slidenum">
              <a:t>&lt;#&gt;</a:t>
            </a:fld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FEE32B4-B4C0-43E7-BB3C-7A6C12DB490B}" type="slidenum">
              <a:t>&lt;#&gt;</a:t>
            </a:fld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EA2EC6C-66C5-47C5-8A5E-70BA2111C525}" type="slidenum">
              <a:t>&lt;#&gt;</a:t>
            </a:fld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E1F7F09-A2ED-42ED-BBAD-50ED50FC2847}" type="slidenum">
              <a:t>&lt;#&gt;</a:t>
            </a:fld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1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2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550D348-128F-49F9-828E-488563179EA9}" type="slidenum">
              <a:t>&lt;#&gt;</a:t>
            </a:fld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7AB240-297B-4D41-B2FE-D93827042CCA}" type="slidenum">
              <a:t>&lt;#&gt;</a:t>
            </a:fld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914752-2D19-4D39-9296-387B44F62639}" type="slidenum">
              <a:t>&lt;#&gt;</a:t>
            </a:fld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2ABF51-11D5-4F0B-A1D7-99DD87E5E865}" type="slidenum">
              <a:t>&lt;#&gt;</a:t>
            </a:fld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7D11338-A2D3-49FE-9CA1-2714835F2C78}" type="slidenum">
              <a:t>&lt;#&gt;</a:t>
            </a:fld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8465F96-2600-4998-AE3D-D1C414F2E35F}" type="slidenum">
              <a:t>&lt;#&gt;</a:t>
            </a:fld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17B8146-8B70-48B4-A44E-C146E95FC3A0}" type="slidenum">
              <a:t>&lt;#&gt;</a:t>
            </a:fld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48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743D198-3872-4F4E-83D7-74D02818AD72}" type="slidenum">
              <a:t>&lt;#&gt;</a:t>
            </a:fld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134EB3B-428F-405C-ACB2-9EFA06814A53}" type="slidenum">
              <a:t>&lt;#&gt;</a:t>
            </a:fld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8A8624-314E-4DA2-85BF-FD199B825522}" type="slidenum">
              <a:t>&lt;#&gt;</a:t>
            </a:fld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B4499D-13C9-4640-AD6C-630BF12107EF}" type="slidenum">
              <a:t>&lt;#&gt;</a:t>
            </a:fld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4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BD9213-48B7-47DC-8E6C-EAA45469C4BD}" type="slidenum">
              <a:t>&lt;#&gt;</a:t>
            </a:fld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9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70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71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77A8AC-3540-4B25-B70F-E145E08121C8}" type="slidenum">
              <a:t>&lt;#&gt;</a:t>
            </a:fld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E741AEA-5C57-4F1D-832E-FBF14504DD88}" type="slidenum">
              <a:t>&lt;#&gt;</a:t>
            </a:fld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CB35C69-A1C2-4841-B2A3-9D2BB7B27A5C}" type="slidenum">
              <a:t>&lt;#&gt;</a:t>
            </a:fld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E2E99AE-5BAB-413D-A6CB-281AB99ED2E7}" type="slidenum">
              <a:t>&lt;#&gt;</a:t>
            </a:fld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5D06351-AB7E-4DB5-82EF-EDD7932A3BCD}" type="slidenum">
              <a:t>&lt;#&gt;</a:t>
            </a:fld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E21E067-DD52-474B-9381-2BE3CF9DA7C3}" type="slidenum">
              <a:t>&lt;#&gt;</a:t>
            </a:fld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F26AC6B-6E93-48A5-9D63-F991EAA8535D}" type="slidenum">
              <a:t>&lt;#&gt;</a:t>
            </a:fld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E3C9CE8-E0F0-4B61-85AC-CC467A5C63BC}" type="slidenum">
              <a:t>&lt;#&gt;</a:t>
            </a:fld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76EBBAC-0BB5-4783-B900-FB3656878DDE}" type="slidenum">
              <a:t>&lt;#&gt;</a:t>
            </a:fld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644C031-0DC2-48B8-AF07-F293803D1ED0}" type="slidenum">
              <a:t>&lt;#&gt;</a:t>
            </a:fld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613C0F0-08CB-4F73-88B1-43BD23C8E8B4}" type="slidenum">
              <a:t>&lt;#&gt;</a:t>
            </a:fld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46CD7EB-7871-4776-AAC4-52FBA1442198}" type="slidenum">
              <a:t>&lt;#&gt;</a:t>
            </a:fld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1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8C2CD2F-5CB0-41B2-A4C0-B6C51B73E0E6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61.xml"/><Relationship Id="rId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5.xml"/><Relationship Id="rId8" Type="http://schemas.openxmlformats.org/officeDocument/2006/relationships/slideLayout" Target="../slideLayouts/slideLayout66.xml"/><Relationship Id="rId9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68.xml"/><Relationship Id="rId11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70.xml"/><Relationship Id="rId13" Type="http://schemas.openxmlformats.org/officeDocument/2006/relationships/slideLayout" Target="../slideLayouts/slideLayout71.xml"/><Relationship Id="rId14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78.xml"/><Relationship Id="rId9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2.xml"/><Relationship Id="rId13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87.xml"/><Relationship Id="rId6" Type="http://schemas.openxmlformats.org/officeDocument/2006/relationships/slideLayout" Target="../slideLayouts/slideLayout88.xml"/><Relationship Id="rId7" Type="http://schemas.openxmlformats.org/officeDocument/2006/relationships/slideLayout" Target="../slideLayouts/slideLayout89.xml"/><Relationship Id="rId8" Type="http://schemas.openxmlformats.org/officeDocument/2006/relationships/slideLayout" Target="../slideLayouts/slideLayout90.xml"/><Relationship Id="rId9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92.xml"/><Relationship Id="rId11" Type="http://schemas.openxmlformats.org/officeDocument/2006/relationships/slideLayout" Target="../slideLayouts/slideLayout93.xml"/><Relationship Id="rId12" Type="http://schemas.openxmlformats.org/officeDocument/2006/relationships/slideLayout" Target="../slideLayouts/slideLayout94.xml"/><Relationship Id="rId13" Type="http://schemas.openxmlformats.org/officeDocument/2006/relationships/slideLayout" Target="../slideLayouts/slideLayout95.xml"/><Relationship Id="rId14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2D59CA8C-8C65-4A74-8849-7250114F7CCB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ru-RU" sz="10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6402ba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BFD0121-0E14-436E-BFF4-3F82C2D9A943}" type="slidenum">
              <a:rPr b="0" lang="ru" sz="1000" spc="-1" strike="noStrike">
                <a:solidFill>
                  <a:srgbClr val="6402ba"/>
                </a:solidFill>
                <a:latin typeface="Arial"/>
                <a:ea typeface="Arial"/>
              </a:rPr>
              <a:t>&lt;number&gt;</a:t>
            </a:fld>
            <a:endParaRPr b="0" lang="ru-RU" sz="1000" spc="-1" strike="noStrike"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0400" y="1840320"/>
            <a:ext cx="7934760" cy="104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latin typeface="Arial"/>
              </a:rPr>
              <a:t>Click to edit the title text format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4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Click to edit the outline text format</a:t>
            </a:r>
            <a:endParaRPr b="0" lang="ru-RU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latin typeface="Arial"/>
              </a:rPr>
              <a:t>Second Outline Level</a:t>
            </a:r>
            <a:endParaRPr b="0" lang="ru-RU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Third Outline Level</a:t>
            </a:r>
            <a:endParaRPr b="0" lang="ru-RU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latin typeface="Arial"/>
              </a:rPr>
              <a:t>Fourth Outline Level</a:t>
            </a:r>
            <a:endParaRPr b="0" lang="ru-RU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Fifth Outline Level</a:t>
            </a:r>
            <a:endParaRPr b="0" lang="ru-RU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Sixth Outline Level</a:t>
            </a:r>
            <a:endParaRPr b="0" lang="ru-RU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Seventh Outline Level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4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Click to edit the outline text format</a:t>
            </a:r>
            <a:endParaRPr b="0" lang="ru-RU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latin typeface="Arial"/>
              </a:rPr>
              <a:t>Second Outline Level</a:t>
            </a:r>
            <a:endParaRPr b="0" lang="ru-RU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Third Outline Level</a:t>
            </a:r>
            <a:endParaRPr b="0" lang="ru-RU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latin typeface="Arial"/>
              </a:rPr>
              <a:t>Fourth Outline Level</a:t>
            </a:r>
            <a:endParaRPr b="0" lang="ru-RU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Fifth Outline Level</a:t>
            </a:r>
            <a:endParaRPr b="0" lang="ru-RU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Sixth Outline Level</a:t>
            </a:r>
            <a:endParaRPr b="0" lang="ru-RU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Seventh Outline Level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0F08907-63F8-4927-BF4D-0A146E0243C4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ru-RU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00400" y="1840320"/>
            <a:ext cx="7934760" cy="104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latin typeface="Arial"/>
              </a:rPr>
              <a:t>Click to edit the title text format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Click to edit the outline text format</a:t>
            </a:r>
            <a:endParaRPr b="0" lang="ru-RU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latin typeface="Arial"/>
              </a:rPr>
              <a:t>Second Outline Level</a:t>
            </a:r>
            <a:endParaRPr b="0" lang="ru-RU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Third Outline Level</a:t>
            </a:r>
            <a:endParaRPr b="0" lang="ru-RU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latin typeface="Arial"/>
              </a:rPr>
              <a:t>Fourth Outline Level</a:t>
            </a:r>
            <a:endParaRPr b="0" lang="ru-RU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Fifth Outline Level</a:t>
            </a:r>
            <a:endParaRPr b="0" lang="ru-RU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Sixth Outline Level</a:t>
            </a:r>
            <a:endParaRPr b="0" lang="ru-RU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latin typeface="Arial"/>
              </a:rPr>
              <a:t>Seventh Outline Level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A0FEFF8B-AD22-437F-B485-7E8A4DFD64D1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ru-RU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3DD259C-0ABC-4627-A66D-A75FE8E109A3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ru-RU" sz="1000" spc="-1" strike="noStrike">
              <a:latin typeface="Times New Roman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ABDF81A4-7424-4099-921C-09D7AA9D5AD0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ru-RU" sz="1000" spc="-1" strike="noStrike">
              <a:latin typeface="Times New Roman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Click to edit the title text format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Click to edit the outline text format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Second Outline Level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Third Outline Level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Fourth Outline Level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Fifth Outline Level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Sixth Outline Level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Seventh Outline Level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6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6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6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6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6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4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8.jpeg"/><Relationship Id="rId2" Type="http://schemas.openxmlformats.org/officeDocument/2006/relationships/slideLayout" Target="../slideLayouts/slideLayout8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146;p35" descr=""/>
          <p:cNvPicPr/>
          <p:nvPr/>
        </p:nvPicPr>
        <p:blipFill>
          <a:blip r:embed="rId1">
            <a:alphaModFix amt="75000"/>
          </a:blip>
          <a:srcRect l="18593" t="0" r="18587" b="0"/>
          <a:stretch/>
        </p:blipFill>
        <p:spPr>
          <a:xfrm>
            <a:off x="-75960" y="-2571840"/>
            <a:ext cx="9407880" cy="8359920"/>
          </a:xfrm>
          <a:prstGeom prst="rect">
            <a:avLst/>
          </a:prstGeom>
          <a:ln w="0">
            <a:noFill/>
          </a:ln>
        </p:spPr>
      </p:pic>
      <p:sp>
        <p:nvSpPr>
          <p:cNvPr id="312" name="Google Shape;147;p35"/>
          <p:cNvSpPr/>
          <p:nvPr/>
        </p:nvSpPr>
        <p:spPr>
          <a:xfrm>
            <a:off x="433080" y="1535040"/>
            <a:ext cx="75837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" sz="4000" spc="-1" strike="noStrike">
                <a:solidFill>
                  <a:srgbClr val="ffffff"/>
                </a:solidFill>
                <a:latin typeface="Roboto"/>
                <a:ea typeface="Roboto"/>
              </a:rPr>
              <a:t>Проектирование БД для управления личными финансами</a:t>
            </a:r>
            <a:endParaRPr b="0" lang="ru-RU" sz="4000" spc="-1" strike="noStrike">
              <a:latin typeface="Arial"/>
            </a:endParaRPr>
          </a:p>
        </p:txBody>
      </p:sp>
      <p:pic>
        <p:nvPicPr>
          <p:cNvPr id="313" name="Google Shape;148;p35" descr=""/>
          <p:cNvPicPr/>
          <p:nvPr/>
        </p:nvPicPr>
        <p:blipFill>
          <a:blip r:embed="rId2">
            <a:alphaModFix amt="75000"/>
          </a:blip>
          <a:stretch/>
        </p:blipFill>
        <p:spPr>
          <a:xfrm>
            <a:off x="7913880" y="268920"/>
            <a:ext cx="821520" cy="284040"/>
          </a:xfrm>
          <a:prstGeom prst="rect">
            <a:avLst/>
          </a:prstGeom>
          <a:ln w="0">
            <a:noFill/>
          </a:ln>
        </p:spPr>
      </p:pic>
      <p:sp>
        <p:nvSpPr>
          <p:cNvPr id="314" name="Google Shape;149;p35"/>
          <p:cNvSpPr/>
          <p:nvPr/>
        </p:nvSpPr>
        <p:spPr>
          <a:xfrm>
            <a:off x="629640" y="4138200"/>
            <a:ext cx="2919960" cy="42588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Google Shape;150;p35"/>
          <p:cNvSpPr/>
          <p:nvPr/>
        </p:nvSpPr>
        <p:spPr>
          <a:xfrm>
            <a:off x="540000" y="4127400"/>
            <a:ext cx="3253680" cy="4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" sz="1900" spc="-1" strike="noStrike">
                <a:solidFill>
                  <a:srgbClr val="ffffff"/>
                </a:solidFill>
                <a:latin typeface="Roboto Medium"/>
                <a:ea typeface="Roboto Medium"/>
              </a:rPr>
              <a:t>MS SQL Server Developer</a:t>
            </a:r>
            <a:endParaRPr b="0" lang="ru-RU" sz="1900" spc="-1" strike="noStrike">
              <a:latin typeface="Arial"/>
            </a:endParaRPr>
          </a:p>
        </p:txBody>
      </p:sp>
      <p:pic>
        <p:nvPicPr>
          <p:cNvPr id="316" name="Google Shape;151;p35" descr=""/>
          <p:cNvPicPr/>
          <p:nvPr/>
        </p:nvPicPr>
        <p:blipFill>
          <a:blip r:embed="rId3">
            <a:alphaModFix amt="75000"/>
          </a:blip>
          <a:stretch/>
        </p:blipFill>
        <p:spPr>
          <a:xfrm>
            <a:off x="7409880" y="3083760"/>
            <a:ext cx="1547640" cy="1668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744120" y="1422720"/>
            <a:ext cx="7934760" cy="14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4000" spc="-1" strike="noStrike">
                <a:solidFill>
                  <a:srgbClr val="000000"/>
                </a:solidFill>
                <a:latin typeface="Roboto"/>
                <a:ea typeface="Roboto"/>
              </a:rPr>
              <a:t>Меня хорошо видно</a:t>
            </a:r>
            <a:endParaRPr b="0" lang="ru-RU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4000" spc="-1" strike="noStrike">
                <a:solidFill>
                  <a:srgbClr val="000000"/>
                </a:solidFill>
                <a:latin typeface="Roboto"/>
                <a:ea typeface="Roboto"/>
              </a:rPr>
              <a:t>&amp; слышно?</a:t>
            </a:r>
            <a:endParaRPr b="0" lang="ru-RU" sz="4000" spc="-1" strike="noStrike">
              <a:latin typeface="Arial"/>
            </a:endParaRPr>
          </a:p>
        </p:txBody>
      </p:sp>
      <p:pic>
        <p:nvPicPr>
          <p:cNvPr id="318" name="Google Shape;157;p36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1544040" y="3841200"/>
            <a:ext cx="545040" cy="545040"/>
          </a:xfrm>
          <a:prstGeom prst="rect">
            <a:avLst/>
          </a:prstGeom>
          <a:ln w="0">
            <a:noFill/>
          </a:ln>
        </p:spPr>
      </p:pic>
      <p:pic>
        <p:nvPicPr>
          <p:cNvPr id="319" name="Google Shape;158;p36" descr=""/>
          <p:cNvPicPr/>
          <p:nvPr/>
        </p:nvPicPr>
        <p:blipFill>
          <a:blip r:embed="rId2">
            <a:alphaModFix amt="75000"/>
          </a:blip>
          <a:stretch/>
        </p:blipFill>
        <p:spPr>
          <a:xfrm>
            <a:off x="825480" y="3890880"/>
            <a:ext cx="536400" cy="536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500400" y="313560"/>
            <a:ext cx="8519760" cy="1841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Защита проекта</a:t>
            </a:r>
            <a:endParaRPr b="0" lang="ru-RU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Тема: </a:t>
            </a:r>
            <a:endParaRPr b="0" lang="ru-RU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21" name="Google Shape;164;p37"/>
          <p:cNvSpPr/>
          <p:nvPr/>
        </p:nvSpPr>
        <p:spPr>
          <a:xfrm>
            <a:off x="630000" y="2085840"/>
            <a:ext cx="2349360" cy="231804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2" name="Google Shape;165;p37"/>
          <p:cNvSpPr/>
          <p:nvPr/>
        </p:nvSpPr>
        <p:spPr>
          <a:xfrm>
            <a:off x="3899520" y="2336400"/>
            <a:ext cx="4020120" cy="3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ru" sz="2300" spc="-1" strike="noStrike">
                <a:solidFill>
                  <a:srgbClr val="3f299a"/>
                </a:solidFill>
                <a:latin typeface="Roboto"/>
                <a:ea typeface="Roboto"/>
              </a:rPr>
              <a:t>Костромыгин Александр</a:t>
            </a:r>
            <a:endParaRPr b="0" lang="ru-RU" sz="2300" spc="-1" strike="noStrike">
              <a:latin typeface="Arial"/>
            </a:endParaRPr>
          </a:p>
        </p:txBody>
      </p:sp>
      <p:sp>
        <p:nvSpPr>
          <p:cNvPr id="323" name="Google Shape;166;p37"/>
          <p:cNvSpPr/>
          <p:nvPr/>
        </p:nvSpPr>
        <p:spPr>
          <a:xfrm>
            <a:off x="3899520" y="2893320"/>
            <a:ext cx="4200120" cy="89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ru" sz="13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Системный аналитик </a:t>
            </a:r>
            <a:endParaRPr b="0" lang="ru-RU" sz="130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ru" sz="13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Аналитик на проектах DWH</a:t>
            </a:r>
            <a:endParaRPr b="0" lang="ru-RU" sz="130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ru" sz="13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Опыт разработки инженерных  решений 10+лет</a:t>
            </a:r>
            <a:endParaRPr b="0" lang="ru-RU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538560" y="348840"/>
            <a:ext cx="8519760" cy="104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100" spc="-1" strike="noStrike">
                <a:solidFill>
                  <a:srgbClr val="000000"/>
                </a:solidFill>
                <a:latin typeface="Roboto"/>
                <a:ea typeface="Roboto"/>
              </a:rPr>
              <a:t>План защиты</a:t>
            </a:r>
            <a:endParaRPr b="0" lang="ru-RU" sz="3100" spc="-1" strike="noStrike">
              <a:latin typeface="Arial"/>
            </a:endParaRPr>
          </a:p>
        </p:txBody>
      </p:sp>
      <p:sp>
        <p:nvSpPr>
          <p:cNvPr id="325" name="Google Shape;172;p38"/>
          <p:cNvSpPr/>
          <p:nvPr/>
        </p:nvSpPr>
        <p:spPr>
          <a:xfrm>
            <a:off x="1137960" y="1491480"/>
            <a:ext cx="3384360" cy="37548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339840" bIns="3398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Цель и задачи проекта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326" name="Google Shape;173;p38"/>
          <p:cNvSpPr/>
          <p:nvPr/>
        </p:nvSpPr>
        <p:spPr>
          <a:xfrm>
            <a:off x="1137960" y="2071440"/>
            <a:ext cx="3384360" cy="37548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339840" bIns="3398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Какие технологии использовались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327" name="Google Shape;174;p38"/>
          <p:cNvSpPr/>
          <p:nvPr/>
        </p:nvSpPr>
        <p:spPr>
          <a:xfrm>
            <a:off x="1137960" y="2651760"/>
            <a:ext cx="3384360" cy="37548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339840" bIns="3398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Что получилось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328" name="Google Shape;175;p38"/>
          <p:cNvSpPr/>
          <p:nvPr/>
        </p:nvSpPr>
        <p:spPr>
          <a:xfrm>
            <a:off x="1137960" y="3246120"/>
            <a:ext cx="3384360" cy="37548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339840" bIns="3398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Выводы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329" name="Google Shape;176;p38"/>
          <p:cNvSpPr/>
          <p:nvPr/>
        </p:nvSpPr>
        <p:spPr>
          <a:xfrm>
            <a:off x="1137960" y="1679400"/>
            <a:ext cx="360" cy="579600"/>
          </a:xfrm>
          <a:prstGeom prst="bentConnector3">
            <a:avLst>
              <a:gd name="adj1" fmla="val -39687500"/>
            </a:avLst>
          </a:prstGeom>
          <a:noFill/>
          <a:ln w="9525">
            <a:solidFill>
              <a:srgbClr val="3f299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Google Shape;177;p38"/>
          <p:cNvSpPr/>
          <p:nvPr/>
        </p:nvSpPr>
        <p:spPr>
          <a:xfrm>
            <a:off x="1137960" y="2259720"/>
            <a:ext cx="360" cy="579600"/>
          </a:xfrm>
          <a:prstGeom prst="bentConnector3">
            <a:avLst>
              <a:gd name="adj1" fmla="val -39687500"/>
            </a:avLst>
          </a:prstGeom>
          <a:noFill/>
          <a:ln w="9525">
            <a:solidFill>
              <a:srgbClr val="3f299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Google Shape;178;p38"/>
          <p:cNvSpPr/>
          <p:nvPr/>
        </p:nvSpPr>
        <p:spPr>
          <a:xfrm>
            <a:off x="1137960" y="2839680"/>
            <a:ext cx="360" cy="594000"/>
          </a:xfrm>
          <a:prstGeom prst="bentConnector3">
            <a:avLst>
              <a:gd name="adj1" fmla="val -39687500"/>
            </a:avLst>
          </a:prstGeom>
          <a:noFill/>
          <a:ln w="9525">
            <a:solidFill>
              <a:srgbClr val="3f299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2" name="Google Shape;179;p38"/>
          <p:cNvSpPr/>
          <p:nvPr/>
        </p:nvSpPr>
        <p:spPr>
          <a:xfrm>
            <a:off x="1137960" y="3434400"/>
            <a:ext cx="360" cy="525960"/>
          </a:xfrm>
          <a:prstGeom prst="bentConnector3">
            <a:avLst>
              <a:gd name="adj1" fmla="val -39687500"/>
            </a:avLst>
          </a:prstGeom>
          <a:noFill/>
          <a:ln w="9525">
            <a:solidFill>
              <a:srgbClr val="3f299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Google Shape;180;p38"/>
          <p:cNvSpPr/>
          <p:nvPr/>
        </p:nvSpPr>
        <p:spPr>
          <a:xfrm>
            <a:off x="1137960" y="3772800"/>
            <a:ext cx="3384360" cy="37548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339840" bIns="3398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Вопросы и рекомендации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185;p39"/>
          <p:cNvSpPr/>
          <p:nvPr/>
        </p:nvSpPr>
        <p:spPr>
          <a:xfrm>
            <a:off x="560520" y="324720"/>
            <a:ext cx="8519760" cy="13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Цель и задачи проекта</a:t>
            </a:r>
            <a:endParaRPr b="0" lang="ru-RU" sz="3000" spc="-1" strike="noStrike">
              <a:latin typeface="Arial"/>
            </a:endParaRPr>
          </a:p>
        </p:txBody>
      </p:sp>
      <p:sp>
        <p:nvSpPr>
          <p:cNvPr id="335" name="Google Shape;187;p39"/>
          <p:cNvSpPr/>
          <p:nvPr/>
        </p:nvSpPr>
        <p:spPr>
          <a:xfrm>
            <a:off x="952920" y="1138320"/>
            <a:ext cx="6786720" cy="661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Цель проекта: создание расширяемой базы данных для учёта, оперативного анализа, планирования личных финансов.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36" name="Google Shape;381;p 1"/>
          <p:cNvSpPr/>
          <p:nvPr/>
        </p:nvSpPr>
        <p:spPr>
          <a:xfrm>
            <a:off x="900000" y="2943360"/>
            <a:ext cx="5289120" cy="83628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Создание единого и достоверного источника финансовой правды для аналитики и планирования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337" name="Google Shape;381;p 3"/>
          <p:cNvSpPr/>
          <p:nvPr/>
        </p:nvSpPr>
        <p:spPr>
          <a:xfrm>
            <a:off x="2520000" y="3960000"/>
            <a:ext cx="5289120" cy="83628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Гарантия высокой производительности при обработке больших объемов данных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Разделение транзакционной и аналитической нагрузок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338" name="Google Shape;381;p 4"/>
          <p:cNvSpPr/>
          <p:nvPr/>
        </p:nvSpPr>
        <p:spPr>
          <a:xfrm>
            <a:off x="2450520" y="1980000"/>
            <a:ext cx="5289120" cy="77004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ru" sz="1400" spc="-1" strike="noStrike">
                <a:solidFill>
                  <a:srgbClr val="000000"/>
                </a:solidFill>
                <a:latin typeface="Roboto"/>
                <a:ea typeface="Roboto"/>
              </a:rPr>
              <a:t>Обеспечение 100% историчности и прослеживаемости данных 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185;p 1"/>
          <p:cNvSpPr/>
          <p:nvPr/>
        </p:nvSpPr>
        <p:spPr>
          <a:xfrm>
            <a:off x="560520" y="324720"/>
            <a:ext cx="8519760" cy="13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Требования к проекту</a:t>
            </a:r>
            <a:endParaRPr b="0" lang="ru-RU" sz="3000" spc="-1" strike="noStrike">
              <a:latin typeface="Arial"/>
            </a:endParaRPr>
          </a:p>
        </p:txBody>
      </p:sp>
      <p:sp>
        <p:nvSpPr>
          <p:cNvPr id="340" name="Google Shape;187;p 1"/>
          <p:cNvSpPr/>
          <p:nvPr/>
        </p:nvSpPr>
        <p:spPr>
          <a:xfrm>
            <a:off x="952920" y="1246320"/>
            <a:ext cx="6786720" cy="661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Автономность: БД разворачивается и эксплуатируется на локальной ПЭВМ. Не требует постоянного администрирования.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41" name="Google Shape;187;p 2"/>
          <p:cNvSpPr/>
          <p:nvPr/>
        </p:nvSpPr>
        <p:spPr>
          <a:xfrm>
            <a:off x="952920" y="1980000"/>
            <a:ext cx="6786720" cy="661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Локальная отказоустойчивость и транзакционная целостность: применение механизма транзакций как механизм устойчивости к внезапным отключениям.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42" name="Google Shape;187;p 3"/>
          <p:cNvSpPr/>
          <p:nvPr/>
        </p:nvSpPr>
        <p:spPr>
          <a:xfrm>
            <a:off x="952920" y="2758320"/>
            <a:ext cx="6786720" cy="661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Эффективное использование ресурсов: применение оптимизированных индексов и секционирования.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43" name="Google Shape;187;p 4"/>
          <p:cNvSpPr/>
          <p:nvPr/>
        </p:nvSpPr>
        <p:spPr>
          <a:xfrm>
            <a:off x="952920" y="3478320"/>
            <a:ext cx="6786720" cy="841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Локальная интеграция и простота выгрузки отчётности: пользователь может получить отчеты как в фиксированном виде (ОСВ), так и в пригодном к анализу – OLAP-кубе.</a:t>
            </a:r>
            <a:endParaRPr b="0" lang="ru-RU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Какие технологии использовались</a:t>
            </a:r>
            <a:endParaRPr b="0" lang="ru-RU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000" spc="-1" strike="noStrike">
              <a:latin typeface="Arial"/>
            </a:endParaRPr>
          </a:p>
        </p:txBody>
      </p:sp>
      <p:sp>
        <p:nvSpPr>
          <p:cNvPr id="345" name="Google Shape;375;p 1"/>
          <p:cNvSpPr/>
          <p:nvPr/>
        </p:nvSpPr>
        <p:spPr>
          <a:xfrm>
            <a:off x="684000" y="1224000"/>
            <a:ext cx="5400360" cy="88668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MS SQL Server 2026 / T-SQL — основная реляционная СУБД. Проектирование таблиц, построение транзакционного буфера (слой STAGE) и реализация логики инкрементального сторнирования расчетов с помощью хранимых процедур и табличных функций (get_fBS, get_PL).</a:t>
            </a:r>
            <a:endParaRPr b="0" lang="ru-RU" sz="1000" spc="-1" strike="noStrike">
              <a:latin typeface="Arial"/>
            </a:endParaRPr>
          </a:p>
        </p:txBody>
      </p:sp>
      <p:sp>
        <p:nvSpPr>
          <p:cNvPr id="346" name="Google Shape;375;p 2"/>
          <p:cNvSpPr/>
          <p:nvPr/>
        </p:nvSpPr>
        <p:spPr>
          <a:xfrm>
            <a:off x="684000" y="2892960"/>
            <a:ext cx="5400360" cy="70668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Механизм секционирования таблиц (Table Partitioning) — встроенная технология SQL Server для физического разделения терабайтных таблиц фактов (в частности, FCT_CARRY) на годовые дисковые сегменты по ключу даты.</a:t>
            </a:r>
            <a:endParaRPr b="0" lang="ru-RU" sz="1000" spc="-1" strike="noStrike">
              <a:latin typeface="Arial"/>
            </a:endParaRPr>
          </a:p>
        </p:txBody>
      </p:sp>
      <p:sp>
        <p:nvSpPr>
          <p:cNvPr id="347" name="Google Shape;375;p 3"/>
          <p:cNvSpPr/>
          <p:nvPr/>
        </p:nvSpPr>
        <p:spPr>
          <a:xfrm>
            <a:off x="2303280" y="2136960"/>
            <a:ext cx="5400360" cy="70668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SSAS Cube Model (SQL Server Analysis Services) — специализированный сервер баз данных для аналитической обработки данных в оперативной памяти (In-Memory). Применялся для развертывания OLAP-куба по схеме «Звезда».</a:t>
            </a:r>
            <a:endParaRPr b="0" lang="ru-RU" sz="1000" spc="-1" strike="noStrike">
              <a:latin typeface="Arial"/>
            </a:endParaRPr>
          </a:p>
        </p:txBody>
      </p:sp>
      <p:sp>
        <p:nvSpPr>
          <p:cNvPr id="348" name="Google Shape;375;p 4"/>
          <p:cNvSpPr/>
          <p:nvPr/>
        </p:nvSpPr>
        <p:spPr>
          <a:xfrm>
            <a:off x="2493720" y="3636000"/>
            <a:ext cx="5400360" cy="71964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Microsoft Visual Studio (с расширением Analysis Services Projects) — основная интегрированная среда разработки (IDE) для проектирования архитектуры данных, настройки связей и деплоя табличной модели куба.</a:t>
            </a:r>
            <a:endParaRPr b="0" lang="ru-RU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Типовой бизнес-процесс </a:t>
            </a:r>
            <a:br>
              <a:rPr sz="3000"/>
            </a:b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загрузки данных</a:t>
            </a:r>
            <a:endParaRPr b="0" lang="ru-RU" sz="3000" spc="-1" strike="noStrike">
              <a:latin typeface="Arial"/>
            </a:endParaRPr>
          </a:p>
        </p:txBody>
      </p:sp>
      <p:pic>
        <p:nvPicPr>
          <p:cNvPr id="350" name="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596520" y="1800000"/>
            <a:ext cx="8043120" cy="2148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Схема БД</a:t>
            </a:r>
            <a:endParaRPr b="0" lang="ru-RU" sz="3000" spc="-1" strike="noStrike">
              <a:latin typeface="Arial"/>
            </a:endParaRPr>
          </a:p>
        </p:txBody>
      </p:sp>
      <p:pic>
        <p:nvPicPr>
          <p:cNvPr id="352" name="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2544840" y="198360"/>
            <a:ext cx="5734800" cy="46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Что получилось</a:t>
            </a:r>
            <a:br>
              <a:rPr sz="3000"/>
            </a:b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(таблицы и процедуры)</a:t>
            </a:r>
            <a:endParaRPr b="0" lang="ru-RU" sz="3000" spc="-1" strike="noStrike">
              <a:latin typeface="Arial"/>
            </a:endParaRPr>
          </a:p>
        </p:txBody>
      </p:sp>
      <p:pic>
        <p:nvPicPr>
          <p:cNvPr id="354" name="" descr=""/>
          <p:cNvPicPr/>
          <p:nvPr/>
        </p:nvPicPr>
        <p:blipFill>
          <a:blip r:embed="rId1"/>
          <a:stretch/>
        </p:blipFill>
        <p:spPr>
          <a:xfrm>
            <a:off x="6430320" y="540000"/>
            <a:ext cx="2389680" cy="4023720"/>
          </a:xfrm>
          <a:prstGeom prst="rect">
            <a:avLst/>
          </a:prstGeom>
          <a:ln w="0">
            <a:noFill/>
          </a:ln>
        </p:spPr>
      </p:pic>
      <p:pic>
        <p:nvPicPr>
          <p:cNvPr id="355" name="" descr=""/>
          <p:cNvPicPr/>
          <p:nvPr/>
        </p:nvPicPr>
        <p:blipFill>
          <a:blip r:embed="rId2"/>
          <a:stretch/>
        </p:blipFill>
        <p:spPr>
          <a:xfrm>
            <a:off x="3960000" y="1980000"/>
            <a:ext cx="2351880" cy="2588760"/>
          </a:xfrm>
          <a:prstGeom prst="rect">
            <a:avLst/>
          </a:prstGeom>
          <a:ln w="0">
            <a:noFill/>
          </a:ln>
        </p:spPr>
      </p:pic>
      <p:pic>
        <p:nvPicPr>
          <p:cNvPr id="356" name="" descr=""/>
          <p:cNvPicPr/>
          <p:nvPr/>
        </p:nvPicPr>
        <p:blipFill>
          <a:blip r:embed="rId3"/>
          <a:stretch/>
        </p:blipFill>
        <p:spPr>
          <a:xfrm>
            <a:off x="180000" y="2451960"/>
            <a:ext cx="3600000" cy="2120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Что получилось</a:t>
            </a:r>
            <a:br>
              <a:rPr sz="3000"/>
            </a:b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(иерархические справочники)</a:t>
            </a:r>
            <a:endParaRPr b="0" lang="ru-RU" sz="3000" spc="-1" strike="noStrike">
              <a:latin typeface="Arial"/>
            </a:endParaRPr>
          </a:p>
        </p:txBody>
      </p:sp>
      <p:pic>
        <p:nvPicPr>
          <p:cNvPr id="358" name="" descr=""/>
          <p:cNvPicPr/>
          <p:nvPr/>
        </p:nvPicPr>
        <p:blipFill>
          <a:blip r:embed="rId1"/>
          <a:stretch/>
        </p:blipFill>
        <p:spPr>
          <a:xfrm>
            <a:off x="531720" y="1800000"/>
            <a:ext cx="3968280" cy="2274480"/>
          </a:xfrm>
          <a:prstGeom prst="rect">
            <a:avLst/>
          </a:prstGeom>
          <a:ln w="0">
            <a:noFill/>
          </a:ln>
        </p:spPr>
      </p:pic>
      <p:pic>
        <p:nvPicPr>
          <p:cNvPr id="359" name="" descr=""/>
          <p:cNvPicPr/>
          <p:nvPr/>
        </p:nvPicPr>
        <p:blipFill>
          <a:blip r:embed="rId2"/>
          <a:stretch/>
        </p:blipFill>
        <p:spPr>
          <a:xfrm>
            <a:off x="4860000" y="3539880"/>
            <a:ext cx="3344760" cy="1320120"/>
          </a:xfrm>
          <a:prstGeom prst="rect">
            <a:avLst/>
          </a:prstGeom>
          <a:ln w="0">
            <a:noFill/>
          </a:ln>
        </p:spPr>
      </p:pic>
      <p:pic>
        <p:nvPicPr>
          <p:cNvPr id="360" name="" descr=""/>
          <p:cNvPicPr/>
          <p:nvPr/>
        </p:nvPicPr>
        <p:blipFill>
          <a:blip r:embed="rId3"/>
          <a:stretch/>
        </p:blipFill>
        <p:spPr>
          <a:xfrm>
            <a:off x="4843800" y="1418760"/>
            <a:ext cx="3796200" cy="2001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Конвейер обработки данных</a:t>
            </a:r>
            <a:endParaRPr b="0" lang="ru-RU" sz="3000" spc="-1" strike="noStrike">
              <a:latin typeface="Arial"/>
            </a:endParaRPr>
          </a:p>
        </p:txBody>
      </p:sp>
      <p:sp>
        <p:nvSpPr>
          <p:cNvPr id="362" name="Google Shape;187;p 5"/>
          <p:cNvSpPr/>
          <p:nvPr/>
        </p:nvSpPr>
        <p:spPr>
          <a:xfrm>
            <a:off x="720000" y="1080000"/>
            <a:ext cx="7686720" cy="341964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ru" sz="14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Процедуры автоматизации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`STAGE.LOAD_CARRY` (Регулярная загрузка): Позволяет обрабатывать данные текущего или предыдущего периода (флаг `previous period`) с автоматическим обогащением справочников и очисткой буфера.</a:t>
            </a:r>
            <a:endParaRPr b="0" lang="ru-RU" sz="1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`STAGE.LOAD_CARRY_INITIAL` (Первичная загрузка): Процедура пакетной миграции массивов исторических данных без учета расчетного периода.</a:t>
            </a:r>
            <a:endParaRPr b="0" lang="ru-RU" sz="1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`Accounting.CALC_BS` (Расчет баланса): Интеллектуальное ядро системы. Производит расчет P&amp;L (оборотов), подтягивает входящие остатки прошлых периодов и формирует исходящее сальдо в рамках транзакции повышенной безопасности (`XACT_ABORT ON`).</a:t>
            </a:r>
            <a:endParaRPr b="0" lang="ru-RU" sz="1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`STAGE.Генератор тестовых данных`: Инструмент симуляции транзакционной активности. Используется для генерации массивов тестовых данных. Умеет разделять контрагентов и договоры по признакам "только доход" / "только расход" для верификации бизнес-логики.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Схема БД (логическая стурктура)</a:t>
            </a:r>
            <a:endParaRPr b="0" lang="ru-RU" sz="3000" spc="-1" strike="noStrike">
              <a:latin typeface="Arial"/>
            </a:endParaRPr>
          </a:p>
        </p:txBody>
      </p:sp>
      <p:sp>
        <p:nvSpPr>
          <p:cNvPr id="364" name="Google Shape;187;p 6"/>
          <p:cNvSpPr/>
          <p:nvPr/>
        </p:nvSpPr>
        <p:spPr>
          <a:xfrm>
            <a:off x="720000" y="1085400"/>
            <a:ext cx="7686720" cy="359424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Таблица фактов (Проводки): `</a:t>
            </a:r>
            <a:r>
              <a:rPr b="1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Accounting.FCT_CARRY`</a:t>
            </a:r>
            <a:br>
              <a:rPr sz="1500"/>
            </a:b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Содержит атомарные транзакции, точные числовые метрики `numeric(28,12)` и строгую привязку к аналитическим разрезам.</a:t>
            </a:r>
            <a:endParaRPr b="0" lang="ru-RU" sz="1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 </a:t>
            </a:r>
            <a:endParaRPr b="0" lang="ru-RU" sz="1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Таблица фактов (Витрина остатков): </a:t>
            </a:r>
            <a:r>
              <a:rPr b="1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`Accounting.DM_REST`</a:t>
            </a:r>
            <a:br>
              <a:rPr sz="1500"/>
            </a:b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Инкрементальный снимок финансового состояния, хранящий кумулятивное сальдо.</a:t>
            </a:r>
            <a:endParaRPr b="0" lang="ru-RU" sz="1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 </a:t>
            </a:r>
            <a:endParaRPr b="0" lang="ru-RU" sz="1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5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Справочники (Измерения):</a:t>
            </a:r>
            <a:endParaRPr b="0" lang="ru-RU" sz="15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   </a:t>
            </a:r>
            <a:r>
              <a:rPr b="1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`Accounting.DIC_CLIENT` </a:t>
            </a: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— сквозной версионный реестр контрагентов.</a:t>
            </a:r>
            <a:endParaRPr b="0" lang="ru-RU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   </a:t>
            </a: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</a:t>
            </a:r>
            <a:r>
              <a:rPr b="1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Accounting.DIC_AGREEMENT</a:t>
            </a: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 — договоры, жестко связанные со своими владельцами (контрагентами).</a:t>
            </a:r>
            <a:endParaRPr b="0" lang="ru-RU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   </a:t>
            </a: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</a:t>
            </a:r>
            <a:r>
              <a:rPr b="1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Accounting.DIC_ACCOUNT</a:t>
            </a: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 — аналитические счета пользователей, типизированные по банковскому стандарту.</a:t>
            </a:r>
            <a:endParaRPr b="0" lang="ru-RU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   </a:t>
            </a:r>
            <a:r>
              <a:rPr b="1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`Accounting.dic_period`</a:t>
            </a:r>
            <a:r>
              <a:rPr b="0" lang="ru" sz="1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 — системный календарь с фиксацией операционных границ («левая» и «правая» маржи).</a:t>
            </a:r>
            <a:endParaRPr b="0" lang="ru-RU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Элементы надёжности</a:t>
            </a:r>
            <a:endParaRPr b="0" lang="ru-RU" sz="3000" spc="-1" strike="noStrike">
              <a:latin typeface="Arial"/>
            </a:endParaRPr>
          </a:p>
        </p:txBody>
      </p:sp>
      <p:sp>
        <p:nvSpPr>
          <p:cNvPr id="366" name="Google Shape;425;p 5"/>
          <p:cNvSpPr/>
          <p:nvPr/>
        </p:nvSpPr>
        <p:spPr>
          <a:xfrm>
            <a:off x="722160" y="1501560"/>
            <a:ext cx="2158560" cy="24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Отказ от физического удаления:</a:t>
            </a:r>
            <a:endParaRPr b="0" lang="ru-RU" sz="1300" spc="-1" strike="noStrike">
              <a:latin typeface="Arial"/>
            </a:endParaRPr>
          </a:p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Процедура расчета баланса `Accounting.CALC_BS` никогда не выполняет деструктивные команды `DELETE` или `TRUNCATE` над закрытым периодом.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367" name="Google Shape;425;p 6"/>
          <p:cNvSpPr/>
          <p:nvPr/>
        </p:nvSpPr>
        <p:spPr>
          <a:xfrm>
            <a:off x="3241080" y="1501560"/>
            <a:ext cx="2158560" cy="24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Сторнирование вместо замены:</a:t>
            </a:r>
            <a:endParaRPr b="0" lang="ru-RU" sz="1300" spc="-1" strike="noStrike">
              <a:latin typeface="Arial"/>
            </a:endParaRPr>
          </a:p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При повторном запуске расчета за один и тот же период система находит предыдущий расчет и автоматически дублирует его строки с инкрементальным коэффициентом `(-1.0)`.</a:t>
            </a:r>
            <a:endParaRPr b="0" lang="ru-RU" sz="1300" spc="-1" strike="noStrike">
              <a:latin typeface="Arial"/>
            </a:endParaRPr>
          </a:p>
        </p:txBody>
      </p:sp>
      <p:sp>
        <p:nvSpPr>
          <p:cNvPr id="368" name="Google Shape;425;p 7"/>
          <p:cNvSpPr/>
          <p:nvPr/>
        </p:nvSpPr>
        <p:spPr>
          <a:xfrm>
            <a:off x="6121080" y="1440000"/>
            <a:ext cx="2158560" cy="22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Аудит изменений:</a:t>
            </a:r>
            <a:r>
              <a:rPr b="0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 Каждая итерация расчетов маркируется уникальным `id_calc` Это позволяет восстановить финансовую картину на любой момент времени.</a:t>
            </a:r>
            <a:endParaRPr b="0" lang="ru-RU" sz="1300" spc="-1" strike="noStrike">
              <a:latin typeface="Arial"/>
            </a:endParaRPr>
          </a:p>
        </p:txBody>
      </p:sp>
      <p:pic>
        <p:nvPicPr>
          <p:cNvPr id="369" name="Google Shape;294;p 5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721080" y="1150200"/>
            <a:ext cx="469440" cy="469440"/>
          </a:xfrm>
          <a:prstGeom prst="rect">
            <a:avLst/>
          </a:prstGeom>
          <a:ln w="0">
            <a:noFill/>
          </a:ln>
        </p:spPr>
      </p:pic>
      <p:pic>
        <p:nvPicPr>
          <p:cNvPr id="370" name="Google Shape;294;p 6" descr=""/>
          <p:cNvPicPr/>
          <p:nvPr/>
        </p:nvPicPr>
        <p:blipFill>
          <a:blip r:embed="rId2">
            <a:alphaModFix amt="75000"/>
          </a:blip>
          <a:stretch/>
        </p:blipFill>
        <p:spPr>
          <a:xfrm>
            <a:off x="3131280" y="1080000"/>
            <a:ext cx="469440" cy="469440"/>
          </a:xfrm>
          <a:prstGeom prst="rect">
            <a:avLst/>
          </a:prstGeom>
          <a:ln w="0">
            <a:noFill/>
          </a:ln>
        </p:spPr>
      </p:pic>
      <p:pic>
        <p:nvPicPr>
          <p:cNvPr id="371" name="Google Shape;294;p 7" descr=""/>
          <p:cNvPicPr/>
          <p:nvPr/>
        </p:nvPicPr>
        <p:blipFill>
          <a:blip r:embed="rId3">
            <a:alphaModFix amt="75000"/>
          </a:blip>
          <a:stretch/>
        </p:blipFill>
        <p:spPr>
          <a:xfrm>
            <a:off x="6011280" y="1080000"/>
            <a:ext cx="469440" cy="469440"/>
          </a:xfrm>
          <a:prstGeom prst="rect">
            <a:avLst/>
          </a:prstGeom>
          <a:ln w="0">
            <a:noFill/>
          </a:ln>
        </p:spPr>
      </p:pic>
      <p:sp>
        <p:nvSpPr>
          <p:cNvPr id="372" name="Google Shape;425;p 8"/>
          <p:cNvSpPr/>
          <p:nvPr/>
        </p:nvSpPr>
        <p:spPr>
          <a:xfrm>
            <a:off x="720000" y="3960000"/>
            <a:ext cx="77396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Простота консолидации</a:t>
            </a:r>
            <a:r>
              <a:rPr b="0" lang="ru" sz="1300" spc="-1" strike="noStrike">
                <a:solidFill>
                  <a:srgbClr val="000000"/>
                </a:solidFill>
                <a:latin typeface="Roboto"/>
                <a:ea typeface="Roboto"/>
              </a:rPr>
              <a:t>: Итоговый актуальный баланс на любую дату является результатом быстрого линейного суммирования `SUM([value])`, исключая сложные расчеты.</a:t>
            </a:r>
            <a:endParaRPr b="0" lang="ru-RU" sz="1300" spc="-1" strike="noStrike">
              <a:latin typeface="Arial"/>
            </a:endParaRPr>
          </a:p>
        </p:txBody>
      </p:sp>
      <p:pic>
        <p:nvPicPr>
          <p:cNvPr id="373" name="Google Shape;294;p 8" descr=""/>
          <p:cNvPicPr/>
          <p:nvPr/>
        </p:nvPicPr>
        <p:blipFill>
          <a:blip r:embed="rId4">
            <a:alphaModFix amt="75000"/>
          </a:blip>
          <a:stretch/>
        </p:blipFill>
        <p:spPr>
          <a:xfrm>
            <a:off x="360000" y="4030200"/>
            <a:ext cx="469440" cy="469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Элементы надёжности</a:t>
            </a:r>
            <a:endParaRPr b="0" lang="ru-RU" sz="3000" spc="-1" strike="noStrike">
              <a:latin typeface="Arial"/>
            </a:endParaRPr>
          </a:p>
        </p:txBody>
      </p:sp>
      <p:pic>
        <p:nvPicPr>
          <p:cNvPr id="375" name="Google Shape;507;p 1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861480" y="1378800"/>
            <a:ext cx="1642320" cy="754560"/>
          </a:xfrm>
          <a:prstGeom prst="rect">
            <a:avLst/>
          </a:prstGeom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376" name="Google Shape;508;p 1" descr=""/>
          <p:cNvPicPr/>
          <p:nvPr/>
        </p:nvPicPr>
        <p:blipFill>
          <a:blip r:embed="rId2">
            <a:alphaModFix amt="75000"/>
          </a:blip>
          <a:stretch/>
        </p:blipFill>
        <p:spPr>
          <a:xfrm>
            <a:off x="2707200" y="1378800"/>
            <a:ext cx="1642320" cy="754560"/>
          </a:xfrm>
          <a:prstGeom prst="rect">
            <a:avLst/>
          </a:prstGeom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377" name="Google Shape;509;p 1" descr=""/>
          <p:cNvPicPr/>
          <p:nvPr/>
        </p:nvPicPr>
        <p:blipFill>
          <a:blip r:embed="rId3">
            <a:alphaModFix amt="75000"/>
          </a:blip>
          <a:stretch/>
        </p:blipFill>
        <p:spPr>
          <a:xfrm>
            <a:off x="4466520" y="1378800"/>
            <a:ext cx="1642320" cy="754560"/>
          </a:xfrm>
          <a:prstGeom prst="rect">
            <a:avLst/>
          </a:prstGeom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378" name="Google Shape;510;p 1" descr=""/>
          <p:cNvPicPr/>
          <p:nvPr/>
        </p:nvPicPr>
        <p:blipFill>
          <a:blip r:embed="rId4">
            <a:alphaModFix amt="75000"/>
          </a:blip>
          <a:stretch/>
        </p:blipFill>
        <p:spPr>
          <a:xfrm>
            <a:off x="6285960" y="1378800"/>
            <a:ext cx="1642320" cy="754560"/>
          </a:xfrm>
          <a:prstGeom prst="rect">
            <a:avLst/>
          </a:prstGeom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sp>
        <p:nvSpPr>
          <p:cNvPr id="379" name="Google Shape;512;p 1"/>
          <p:cNvSpPr/>
          <p:nvPr/>
        </p:nvSpPr>
        <p:spPr>
          <a:xfrm>
            <a:off x="1151640" y="1502280"/>
            <a:ext cx="1062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500" spc="-1" strike="noStrike">
                <a:solidFill>
                  <a:srgbClr val="eeeeee"/>
                </a:solidFill>
                <a:latin typeface="Roboto"/>
                <a:ea typeface="Roboto"/>
              </a:rPr>
              <a:t>Расчёт 1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80" name="Google Shape;513;p 1"/>
          <p:cNvSpPr/>
          <p:nvPr/>
        </p:nvSpPr>
        <p:spPr>
          <a:xfrm>
            <a:off x="2997360" y="1502280"/>
            <a:ext cx="1062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500" spc="-1" strike="noStrike">
                <a:solidFill>
                  <a:srgbClr val="eeeeee"/>
                </a:solidFill>
                <a:latin typeface="Roboto"/>
                <a:ea typeface="Roboto"/>
              </a:rPr>
              <a:t>Расчёт 2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81" name="Google Shape;514;p 1"/>
          <p:cNvSpPr/>
          <p:nvPr/>
        </p:nvSpPr>
        <p:spPr>
          <a:xfrm>
            <a:off x="4756680" y="1502280"/>
            <a:ext cx="1062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500" spc="-1" strike="noStrike">
                <a:solidFill>
                  <a:srgbClr val="eeeeee"/>
                </a:solidFill>
                <a:latin typeface="Roboto"/>
                <a:ea typeface="Roboto"/>
              </a:rPr>
              <a:t>Расчёт 3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82" name="Google Shape;515;p 1"/>
          <p:cNvSpPr/>
          <p:nvPr/>
        </p:nvSpPr>
        <p:spPr>
          <a:xfrm>
            <a:off x="6480000" y="1502280"/>
            <a:ext cx="12596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500" spc="-1" strike="noStrike">
                <a:solidFill>
                  <a:srgbClr val="eeeeee"/>
                </a:solidFill>
                <a:latin typeface="Roboto"/>
                <a:ea typeface="Roboto"/>
              </a:rPr>
              <a:t>Итоговый баланс</a:t>
            </a:r>
            <a:endParaRPr b="0" lang="ru-RU" sz="1500" spc="-1" strike="noStrike">
              <a:latin typeface="Arial"/>
            </a:endParaRPr>
          </a:p>
        </p:txBody>
      </p:sp>
      <p:graphicFrame>
        <p:nvGraphicFramePr>
          <p:cNvPr id="383" name="Google Shape;516;p 1"/>
          <p:cNvGraphicFramePr/>
          <p:nvPr/>
        </p:nvGraphicFramePr>
        <p:xfrm>
          <a:off x="861480" y="2674080"/>
          <a:ext cx="7238520" cy="380520"/>
        </p:xfrm>
        <a:graphic>
          <a:graphicData uri="http://schemas.openxmlformats.org/drawingml/2006/table">
            <a:tbl>
              <a:tblPr/>
              <a:tblGrid>
                <a:gridCol w="1809720"/>
                <a:gridCol w="1809720"/>
                <a:gridCol w="1809720"/>
                <a:gridCol w="1809720"/>
              </a:tblGrid>
              <a:tr h="380880"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Проводка: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+150 000 руб</a:t>
                      </a:r>
                      <a:endParaRPr b="0" lang="ru-RU" sz="900" spc="-1" strike="noStrike"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Сторно: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-150 000 руб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Новая проводка: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+180 000 руб</a:t>
                      </a:r>
                      <a:endParaRPr b="0" lang="ru-RU" sz="900" spc="-1" strike="noStrike"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Сторно: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-180 000 руб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Новая проводка: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+200 000 руб</a:t>
                      </a:r>
                      <a:endParaRPr b="0" lang="ru-RU" sz="900" spc="-1" strike="noStrike"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Простая сумма:</a:t>
                      </a:r>
                      <a:endParaRPr b="0" lang="ru-RU" sz="9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ru" sz="900" spc="-1" strike="noStrike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+200 000 руб.</a:t>
                      </a:r>
                      <a:endParaRPr b="0" lang="ru-RU" sz="900" spc="-1" strike="noStrike"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pc="-1" strike="noStrike">
                <a:solidFill>
                  <a:srgbClr val="000000"/>
                </a:solidFill>
                <a:latin typeface="Roboto"/>
                <a:ea typeface="Roboto"/>
              </a:rPr>
              <a:t>Инструменты для бизнес-пользователей</a:t>
            </a:r>
            <a:endParaRPr b="0" lang="ru-RU" sz="3000" spc="-1" strike="noStrike">
              <a:latin typeface="Arial"/>
            </a:endParaRPr>
          </a:p>
        </p:txBody>
      </p:sp>
      <p:pic>
        <p:nvPicPr>
          <p:cNvPr id="385" name="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6120000" y="900000"/>
            <a:ext cx="2665080" cy="1799640"/>
          </a:xfrm>
          <a:prstGeom prst="rect">
            <a:avLst/>
          </a:prstGeom>
          <a:ln w="0">
            <a:noFill/>
          </a:ln>
        </p:spPr>
      </p:pic>
      <p:sp>
        <p:nvSpPr>
          <p:cNvPr id="386" name=""/>
          <p:cNvSpPr/>
          <p:nvPr/>
        </p:nvSpPr>
        <p:spPr>
          <a:xfrm>
            <a:off x="417240" y="900000"/>
            <a:ext cx="3002400" cy="37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latin typeface="Arial"/>
              </a:rPr>
              <a:t>Функция `Accounting.get_fBS`:</a:t>
            </a:r>
            <a:r>
              <a:rPr b="0" lang="ru-RU" sz="1200" spc="-1" strike="noStrike">
                <a:latin typeface="Arial"/>
              </a:rPr>
              <a:t> Возвращает агрегированный баланс по любой выбранной иерархии типов данных с возможностью раскрытия до конкретного договора.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latin typeface="Arial"/>
              </a:rPr>
              <a:t>Функция `Accounting.get_PL`:</a:t>
            </a:r>
            <a:r>
              <a:rPr b="0" lang="ru-RU" sz="1200" spc="-1" strike="noStrike">
                <a:latin typeface="Arial"/>
              </a:rPr>
              <a:t> Изолирует чистые обороты за выбранный период (Доходы/Расходы), обращаясь напрямую к секционированному хранилищу транзакций.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latin typeface="Arial"/>
              </a:rPr>
              <a:t>Оборотно-сальдовая ведомость (ОСВ)</a:t>
            </a:r>
            <a:r>
              <a:rPr b="0" lang="ru-RU" sz="1200" spc="-1" strike="noStrike">
                <a:latin typeface="Arial"/>
              </a:rPr>
              <a:t>: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200" spc="-1" strike="noStrike">
                <a:latin typeface="Arial"/>
              </a:rPr>
              <a:t>Эталонный аналитический SQL-запрос, формирующий классическую бухгалтерскую "шахматку": `Входящее сальдо -&gt; Дебет (Приход) -&gt; Кредит (Расход) -&gt; Исходящее сальдо`.</a:t>
            </a:r>
            <a:endParaRPr b="0" lang="ru-RU" sz="1200" spc="-1" strike="noStrike">
              <a:latin typeface="Arial"/>
            </a:endParaRPr>
          </a:p>
        </p:txBody>
      </p:sp>
      <p:pic>
        <p:nvPicPr>
          <p:cNvPr id="387" name="" descr=""/>
          <p:cNvPicPr/>
          <p:nvPr/>
        </p:nvPicPr>
        <p:blipFill>
          <a:blip r:embed="rId2">
            <a:alphaModFix amt="75000"/>
          </a:blip>
          <a:stretch/>
        </p:blipFill>
        <p:spPr>
          <a:xfrm>
            <a:off x="3240000" y="1620000"/>
            <a:ext cx="4032720" cy="305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400" spc="-1" strike="noStrike">
                <a:solidFill>
                  <a:srgbClr val="000000"/>
                </a:solidFill>
                <a:latin typeface="Roboto"/>
                <a:ea typeface="Roboto"/>
              </a:rPr>
              <a:t>Развитие проекта</a:t>
            </a:r>
            <a:endParaRPr b="0" lang="ru-RU" sz="3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000" spc="-1" strike="noStrike">
              <a:latin typeface="Arial"/>
            </a:endParaRPr>
          </a:p>
        </p:txBody>
      </p:sp>
      <p:grpSp>
        <p:nvGrpSpPr>
          <p:cNvPr id="389" name="Google Shape;214;p42"/>
          <p:cNvGrpSpPr/>
          <p:nvPr/>
        </p:nvGrpSpPr>
        <p:grpSpPr>
          <a:xfrm>
            <a:off x="732600" y="1111320"/>
            <a:ext cx="7907040" cy="3388320"/>
            <a:chOff x="732600" y="1111320"/>
            <a:chExt cx="7907040" cy="3388320"/>
          </a:xfrm>
        </p:grpSpPr>
        <p:pic>
          <p:nvPicPr>
            <p:cNvPr id="390" name="Google Shape;215;p42" descr=""/>
            <p:cNvPicPr/>
            <p:nvPr/>
          </p:nvPicPr>
          <p:blipFill>
            <a:blip r:embed="rId1">
              <a:alphaModFix amt="75000"/>
            </a:blip>
            <a:stretch/>
          </p:blipFill>
          <p:spPr>
            <a:xfrm>
              <a:off x="732600" y="1111320"/>
              <a:ext cx="7907040" cy="3388320"/>
            </a:xfrm>
            <a:prstGeom prst="rect">
              <a:avLst/>
            </a:prstGeom>
            <a:ln w="0">
              <a:noFill/>
            </a:ln>
            <a:effectLst>
              <a:outerShdw algn="bl" blurRad="200160" dir="4197285" dist="28357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391" name="Google Shape;216;p42"/>
            <p:cNvSpPr/>
            <p:nvPr/>
          </p:nvSpPr>
          <p:spPr>
            <a:xfrm>
              <a:off x="1854360" y="1540080"/>
              <a:ext cx="6722640" cy="235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t">
              <a:spAutoFit/>
            </a:bodyPr>
            <a:p>
              <a:pPr marL="216000" indent="-216000">
                <a:lnSpc>
                  <a:spcPct val="100000"/>
                </a:lnSpc>
                <a:buClr>
                  <a:srgbClr val="000000"/>
                </a:buClr>
                <a:buSzPct val="45000"/>
                <a:buFont typeface="Wingdings" charset="2"/>
                <a:buChar char=""/>
                <a:tabLst>
                  <a:tab algn="l" pos="0"/>
                </a:tabLst>
              </a:pPr>
              <a:r>
                <a:rPr b="0" lang="ru" sz="1100" spc="-1" strike="noStrike">
                  <a:solidFill>
                    <a:srgbClr val="000000"/>
                  </a:solidFill>
                  <a:latin typeface="Arial"/>
                  <a:ea typeface="Arial"/>
                </a:rPr>
                <a:t>Переход к полноценному Дт/Кт учету: Доработка структуры `FCT_CARRY` до классической двухсторонней бухгалтерской записи — внедрение полей `id_account_dbt` (дебет) и `id_account_crd` (кредит) взамен единого поля `id_account`.</a:t>
              </a:r>
              <a:endParaRPr b="0" lang="ru-RU" sz="1100" spc="-1" strike="noStrike"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000000"/>
                </a:buClr>
                <a:buSzPct val="45000"/>
                <a:buFont typeface="Wingdings" charset="2"/>
                <a:buChar char=""/>
                <a:tabLst>
                  <a:tab algn="l" pos="0"/>
                </a:tabLst>
              </a:pPr>
              <a:r>
                <a:rPr b="0" lang="ru" sz="1100" spc="-1" strike="noStrike">
                  <a:solidFill>
                    <a:srgbClr val="000000"/>
                  </a:solidFill>
                  <a:latin typeface="Arial"/>
                  <a:ea typeface="Arial"/>
                </a:rPr>
                <a:t>Внедрение подсистемы версионирования справочников (SCD Type 2): Реализация отслеживания изменений атрибутов контрагентов и счетов во времени с хранением интервалов валидности (`valid_to`).</a:t>
              </a:r>
              <a:endParaRPr b="0" lang="ru-RU" sz="1100" spc="-1" strike="noStrike"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000000"/>
                </a:buClr>
                <a:buSzPct val="45000"/>
                <a:buFont typeface="Wingdings" charset="2"/>
                <a:buChar char=""/>
                <a:tabLst>
                  <a:tab algn="l" pos="0"/>
                </a:tabLst>
              </a:pPr>
              <a:r>
                <a:rPr b="0" lang="ru" sz="1100" spc="-1" strike="noStrike">
                  <a:solidFill>
                    <a:srgbClr val="000000"/>
                  </a:solidFill>
                  <a:latin typeface="Arial"/>
                  <a:ea typeface="Arial"/>
                </a:rPr>
                <a:t>Автоматизация управления секциями (Partition Sliding Window):  * Написание системного SQL Agent Job для автоматической нарезки новых секций (`SPLIT`) на будущие годы и архивации старых секций.</a:t>
              </a:r>
              <a:endParaRPr b="0" lang="ru-RU" sz="1100" spc="-1" strike="noStrike"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000000"/>
                </a:buClr>
                <a:buSzPct val="45000"/>
                <a:buFont typeface="Wingdings" charset="2"/>
                <a:buChar char=""/>
                <a:tabLst>
                  <a:tab algn="l" pos="0"/>
                </a:tabLst>
              </a:pPr>
              <a:r>
                <a:rPr b="0" lang="ru" sz="1100" spc="-1" strike="noStrike">
                  <a:solidFill>
                    <a:srgbClr val="000000"/>
                  </a:solidFill>
                  <a:latin typeface="Arial"/>
                  <a:ea typeface="Arial"/>
                </a:rPr>
                <a:t>Развертывание корпоративного слоя BI: Построение интерактивных дашбордов в Power BI / Apache Superset напрямую над разработанной OLAP-моделью Analysis Services.</a:t>
              </a:r>
              <a:endParaRPr b="0" lang="ru-RU" sz="1100" spc="-1" strike="noStrike"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000000"/>
                </a:buClr>
                <a:buSzPct val="45000"/>
                <a:buFont typeface="Wingdings" charset="2"/>
                <a:buChar char=""/>
                <a:tabLst>
                  <a:tab algn="l" pos="0"/>
                </a:tabLst>
              </a:pPr>
              <a:r>
                <a:rPr b="0" lang="ru" sz="1100" spc="-1" strike="noStrike">
                  <a:solidFill>
                    <a:srgbClr val="000000"/>
                  </a:solidFill>
                  <a:latin typeface="Arial"/>
                  <a:ea typeface="Arial"/>
                </a:rPr>
                <a:t>Разграничение прав доступа (RLS): Внедрение Row-Level Security на уровне СУБД и куба для изоляции данных при переходе на многопользовательскую модель.</a:t>
              </a:r>
              <a:endParaRPr b="0" lang="ru-RU" sz="1100" spc="-1" strike="noStrike">
                <a:latin typeface="Arial"/>
              </a:endParaRPr>
            </a:p>
          </p:txBody>
        </p:sp>
      </p:grpSp>
      <p:pic>
        <p:nvPicPr>
          <p:cNvPr id="392" name="Google Shape;265;p 1" descr=""/>
          <p:cNvPicPr/>
          <p:nvPr/>
        </p:nvPicPr>
        <p:blipFill>
          <a:blip r:embed="rId2">
            <a:alphaModFix amt="75000"/>
          </a:blip>
          <a:stretch/>
        </p:blipFill>
        <p:spPr>
          <a:xfrm>
            <a:off x="1260000" y="3344040"/>
            <a:ext cx="555120" cy="55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19760" cy="109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400" spc="-1" strike="noStrike">
                <a:solidFill>
                  <a:srgbClr val="000000"/>
                </a:solidFill>
                <a:latin typeface="Roboto"/>
                <a:ea typeface="Roboto"/>
              </a:rPr>
              <a:t>Выводы</a:t>
            </a:r>
            <a:endParaRPr b="0" lang="ru-RU" sz="3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000" spc="-1" strike="noStrike">
              <a:latin typeface="Arial"/>
            </a:endParaRPr>
          </a:p>
        </p:txBody>
      </p:sp>
      <p:graphicFrame>
        <p:nvGraphicFramePr>
          <p:cNvPr id="394" name="Google Shape;213;p 1"/>
          <p:cNvGraphicFramePr/>
          <p:nvPr/>
        </p:nvGraphicFramePr>
        <p:xfrm>
          <a:off x="734760" y="1290960"/>
          <a:ext cx="7238160" cy="1755360"/>
        </p:xfrm>
        <a:graphic>
          <a:graphicData uri="http://schemas.openxmlformats.org/drawingml/2006/table">
            <a:tbl>
              <a:tblPr/>
              <a:tblGrid>
                <a:gridCol w="489240"/>
                <a:gridCol w="6749280"/>
              </a:tblGrid>
              <a:tr h="458280">
                <a:tc>
                  <a:txBody>
                    <a:bodyPr lIns="19800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ru" sz="1600" spc="-1" strike="noStrike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1.</a:t>
                      </a:r>
                      <a:endParaRPr b="0" lang="ru-RU" sz="1600" spc="-1" strike="noStrike"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  <a:tc>
                  <a:txBody>
                    <a:bodyPr lIns="19800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800" spc="-1" strike="noStrike">
                          <a:latin typeface="Arial"/>
                        </a:rPr>
                        <a:t>Доказана жизнеспособность концепции. Получилось реализовать основные принципы учёта.</a:t>
                      </a:r>
                      <a:endParaRPr b="0" lang="ru-RU" sz="1800" spc="-1" strike="noStrike"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bfc1f0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</a:tr>
              <a:tr h="458280">
                <a:tc>
                  <a:txBody>
                    <a:bodyPr lIns="19800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ru" sz="1600" spc="-1" strike="noStrike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2.</a:t>
                      </a:r>
                      <a:endParaRPr b="0" lang="ru-RU" sz="1600" spc="-1" strike="noStrike"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  <a:tc>
                  <a:txBody>
                    <a:bodyPr lIns="19800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800" spc="-1" strike="noStrike">
                          <a:latin typeface="Arial"/>
                        </a:rPr>
                        <a:t>В решении заложен высокий потенциал развития отказоустойчивости (кластеризованные индексы, секционирование, инкрементальность и версионирование расчётов)</a:t>
                      </a:r>
                      <a:endParaRPr b="0" lang="ru-RU" sz="1800" spc="-1" strike="noStrike"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bfc1f0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</a:tr>
              <a:tr h="458280">
                <a:tc>
                  <a:txBody>
                    <a:bodyPr lIns="19800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ru" sz="1600" spc="-1" strike="noStrike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3.</a:t>
                      </a:r>
                      <a:endParaRPr b="0" lang="ru-RU" sz="1600" spc="-1" strike="noStrike"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  <a:tc>
                  <a:txBody>
                    <a:bodyPr lIns="198000" r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800" spc="-1" strike="noStrike">
                          <a:latin typeface="Arial"/>
                        </a:rPr>
                        <a:t>Необходимо более чёткое планирование внедрения фичей. Нарезка на UserStory должна быть более равномерной по нагрузке.</a:t>
                      </a:r>
                      <a:endParaRPr b="0" lang="ru-RU" sz="1800" spc="-1" strike="noStrike"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bfc1f0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</a:tr>
              <a:tr h="380880">
                <a:tc>
                  <a:tcPr anchor="t" marL="198000" marR="91080">
                    <a:lnL w="9360">
                      <a:solidFill>
                        <a:srgbClr val="bfc1f0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  <a:tc>
                  <a:tcPr anchor="t" marL="19800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bfc1f0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221;p43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0" y="0"/>
            <a:ext cx="9215280" cy="5142960"/>
          </a:xfrm>
          <a:prstGeom prst="rect">
            <a:avLst/>
          </a:prstGeom>
          <a:ln w="0">
            <a:noFill/>
          </a:ln>
        </p:spPr>
      </p:pic>
      <p:sp>
        <p:nvSpPr>
          <p:cNvPr id="396" name="Google Shape;222;p43"/>
          <p:cNvSpPr/>
          <p:nvPr/>
        </p:nvSpPr>
        <p:spPr>
          <a:xfrm>
            <a:off x="387000" y="1844640"/>
            <a:ext cx="75837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" sz="4000" spc="-1" strike="noStrike">
                <a:solidFill>
                  <a:srgbClr val="ffffff"/>
                </a:solidFill>
                <a:latin typeface="Roboto"/>
                <a:ea typeface="Roboto"/>
              </a:rPr>
              <a:t>Вопросы и рекомендации</a:t>
            </a:r>
            <a:endParaRPr b="0" lang="ru-RU" sz="4000" spc="-1" strike="noStrike">
              <a:latin typeface="Arial"/>
            </a:endParaRPr>
          </a:p>
        </p:txBody>
      </p:sp>
      <p:sp>
        <p:nvSpPr>
          <p:cNvPr id="397" name="Google Shape;223;p43"/>
          <p:cNvSpPr/>
          <p:nvPr/>
        </p:nvSpPr>
        <p:spPr>
          <a:xfrm>
            <a:off x="1214640" y="3061800"/>
            <a:ext cx="1926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500" spc="-1" strike="noStrike">
                <a:solidFill>
                  <a:srgbClr val="ffffff"/>
                </a:solidFill>
                <a:latin typeface="Roboto"/>
                <a:ea typeface="Roboto"/>
              </a:rPr>
              <a:t>если есть вопросы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98" name="Google Shape;224;p43"/>
          <p:cNvSpPr/>
          <p:nvPr/>
        </p:nvSpPr>
        <p:spPr>
          <a:xfrm>
            <a:off x="4934880" y="3061800"/>
            <a:ext cx="21452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500" spc="-1" strike="noStrike">
                <a:solidFill>
                  <a:srgbClr val="ffffff"/>
                </a:solidFill>
                <a:latin typeface="Roboto"/>
                <a:ea typeface="Roboto"/>
              </a:rPr>
              <a:t>если вопросов нет</a:t>
            </a:r>
            <a:endParaRPr b="0" lang="ru-RU" sz="1500" spc="-1" strike="noStrike">
              <a:latin typeface="Arial"/>
            </a:endParaRPr>
          </a:p>
        </p:txBody>
      </p:sp>
      <p:sp>
        <p:nvSpPr>
          <p:cNvPr id="399" name="Google Shape;225;p43"/>
          <p:cNvSpPr/>
          <p:nvPr/>
        </p:nvSpPr>
        <p:spPr>
          <a:xfrm>
            <a:off x="722880" y="2846520"/>
            <a:ext cx="49104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4300" spc="-1" strike="noStrike">
                <a:solidFill>
                  <a:srgbClr val="ffffff"/>
                </a:solidFill>
                <a:latin typeface="Roboto"/>
                <a:ea typeface="Roboto"/>
              </a:rPr>
              <a:t>+</a:t>
            </a:r>
            <a:endParaRPr b="0" lang="ru-RU" sz="4300" spc="-1" strike="noStrike">
              <a:latin typeface="Arial"/>
            </a:endParaRPr>
          </a:p>
        </p:txBody>
      </p:sp>
      <p:sp>
        <p:nvSpPr>
          <p:cNvPr id="400" name="Google Shape;226;p43"/>
          <p:cNvSpPr/>
          <p:nvPr/>
        </p:nvSpPr>
        <p:spPr>
          <a:xfrm>
            <a:off x="4443480" y="2846520"/>
            <a:ext cx="49104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4300" spc="-1" strike="noStrike">
                <a:solidFill>
                  <a:srgbClr val="ffffff"/>
                </a:solidFill>
                <a:latin typeface="Roboto"/>
                <a:ea typeface="Roboto"/>
              </a:rPr>
              <a:t>– </a:t>
            </a:r>
            <a:endParaRPr b="0" lang="ru-RU" sz="4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234;p44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0" y="0"/>
            <a:ext cx="9215280" cy="5142960"/>
          </a:xfrm>
          <a:prstGeom prst="rect">
            <a:avLst/>
          </a:prstGeom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28920" y="1932480"/>
            <a:ext cx="7294320" cy="1955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5000" spc="-1" strike="noStrike">
                <a:solidFill>
                  <a:srgbClr val="ffffff"/>
                </a:solidFill>
                <a:latin typeface="Roboto"/>
                <a:ea typeface="Roboto"/>
              </a:rPr>
              <a:t>Спасибо за внимание!</a:t>
            </a:r>
            <a:endParaRPr b="0" lang="ru-RU" sz="5000" spc="-1" strike="noStrike">
              <a:latin typeface="Arial"/>
            </a:endParaRPr>
          </a:p>
        </p:txBody>
      </p:sp>
      <p:pic>
        <p:nvPicPr>
          <p:cNvPr id="403" name="Google Shape;236;p44" descr=""/>
          <p:cNvPicPr/>
          <p:nvPr/>
        </p:nvPicPr>
        <p:blipFill>
          <a:blip r:embed="rId2">
            <a:alphaModFix amt="75000"/>
          </a:blip>
          <a:stretch/>
        </p:blipFill>
        <p:spPr>
          <a:xfrm>
            <a:off x="6727320" y="231840"/>
            <a:ext cx="2270160" cy="304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Google Shape;241;p45" descr=""/>
          <p:cNvPicPr/>
          <p:nvPr/>
        </p:nvPicPr>
        <p:blipFill>
          <a:blip r:embed="rId1">
            <a:alphaModFix amt="75000"/>
          </a:blip>
          <a:stretch/>
        </p:blipFill>
        <p:spPr>
          <a:xfrm>
            <a:off x="0" y="0"/>
            <a:ext cx="9143280" cy="514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>First Last</cp:lastModifiedBy>
  <dcterms:modified xsi:type="dcterms:W3CDTF">2026-10-04T11:24:02Z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
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23.png" ContentType="image/png"/>
  <Override PartName="/ppt/media/image22.png" ContentType="image/png"/>
  <Override PartName="/ppt/media/image21.png" ContentType="image/png"/>
  <Override PartName="/ppt/media/image20.png" ContentType="image/png"/>
  <Override PartName="/ppt/media/image36.jpeg" ContentType="image/jpeg"/>
  <Override PartName="/ppt/media/image18.png" ContentType="image/png"/>
  <Override PartName="/ppt/media/image17.png" ContentType="image/png"/>
  <Override PartName="/ppt/media/image28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5.png" ContentType="image/png"/>
  <Override PartName="/ppt/media/image35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19.jpeg" ContentType="image/jpe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slideLayouts/_rels/slideLayout102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slideLayout124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C5EE50C-635B-4A8B-BDEB-B6B88CC0B43C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6974DB1-5E95-43B2-A257-B5AABA27CC8D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F3AECD1-0C6D-4E52-8A42-0124EA876E4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F78BD65-8B31-4E0B-A7F7-7019B307E08D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AF9B7A0-A4A0-4BEE-B66A-E0CD8FB631D6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FDD8A0A-0E92-4F63-9903-0BEEE52B9036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9CDC5A7-8EE6-40EB-ACE8-0C4C277C7C2F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AA269F0-683F-4005-8761-77A29967DE0E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052F9CC-012F-4F75-A61A-B956CE17150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F3DE7ED-6BE2-49C6-BB7E-065350EE06C8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445E666-A703-4566-B239-998EA9B75856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43B876C-4C64-4BC4-803F-4FDF98721542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F7229B-84E6-4533-A833-820127982E1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A6BAFA-2BCB-4621-9801-CBA69B506DDD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8B1A59-CE84-4331-8053-BA3AAEAC6377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98CCF8-B6F3-4F50-8635-86729835E80D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A048B8-68DF-4183-91E4-5BAE99165F06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8CFBA4-AFF7-4A02-A9EF-1F68B7680B9C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873FE7-08DB-4363-B364-32616C1EDDA9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72A767-74C2-4F75-BAB5-A5078E80DBAB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0B9579-EB12-47EA-8CC7-815EB748F9CF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F4BEE5-EF16-4250-A35D-8F9A74C47E4A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2CCB62-FC55-4D9A-B1DA-3AF819F89634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C4314D-CB7C-4F8F-AC99-C29EBB374399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CDA30C-ED38-41A7-B805-713B5CD01A08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881086-E098-48F0-B532-C4CADACA3850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01D253-1B71-4649-B0B0-6D443095C0E3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19D799-2C57-47D3-9EEB-A4C247F1B378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07A212-F0AA-4332-984E-298899652202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EBB8E2-E5BA-4598-930F-FDCCC201336F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312CDD-7F04-481D-8433-C05BB0718DA5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264C50-6740-4B98-B506-14D43C475CE8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9C8E00-D2A4-4C71-B4DF-EF4A26F87DE3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FB7CB5-0847-40BD-AA02-08C998427A7D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64DFCB-0BEF-46F3-8CB5-20F015047516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B413D0-7D80-40E8-BC54-A25B6E84471D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FA67273-DE06-462E-87CB-07E5101A0816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728FA15-016E-413F-A855-D33FF54984E7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13D971E-4B0F-4E67-BC19-80D2556AF718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986F8CB-9CC8-48C9-8ADF-36A66ECBF142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29F3F89-616A-46F1-938F-49724171EED8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7ECEAF1-6F18-484D-8BEC-8C788254CA48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6E9C4FB-65CA-4A58-B167-D0A6F7E23FF8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EAA4903-9C86-4E87-8B8F-8BB17E8B0401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362DF44-A08D-4BFF-BAC7-A84A16763CA9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AF0C236-96D2-45FB-9A9F-79260935B5EB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FA95F2A-99EB-4E06-A91E-D28E8D75DC72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037062E-E3B6-41F6-959B-D1C19A18B426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52DDE4-0491-4FEC-ADA7-8C5CE602510F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BE07DED-D9CA-4643-95D7-D817BB3BE436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C53CB59-8A67-4587-A308-0BB32BAA86E7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B189A3-7E1D-4358-82EA-F069CF71ADA2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00D6278-C0F9-4CFB-8870-2E7DDBC59BE7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10BDD3-F36F-404A-9BC9-A7CDFD1B2442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4A97813-B873-4BB0-9456-4BCCFC02748F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036964F-79D4-4AC1-A5AA-21B3277EEA0F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D09B474-E500-4735-85CC-5B5251483956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FFE1447-2866-45A9-BEAA-1088467064D4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203F46C-9E17-4E41-92C8-438D2CE0643B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1E6EF5-DDDF-49EE-9A3A-68199F9B3865}" type="slidenum">
              <a:t>&lt;#&gt;</a:t>
            </a:fld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DBC0B0-C001-454B-92A5-C643579F0CF6}" type="slidenum">
              <a:t>&lt;#&gt;</a:t>
            </a:fld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DB4482-58A6-4173-B272-D340CBE17641}" type="slidenum">
              <a:t>&lt;#&gt;</a:t>
            </a:fld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034B4E-A975-456B-B8C4-58A3AD33084E}" type="slidenum">
              <a:t>&lt;#&gt;</a:t>
            </a:fld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CE892C-407A-40A1-B51B-B65A85226C1E}" type="slidenum">
              <a:t>&lt;#&gt;</a:t>
            </a:fld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B7A199-8A12-45E9-9698-AAA2805E8AD4}" type="slidenum">
              <a:t>&lt;#&gt;</a:t>
            </a:fld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CA2E00-E07C-4C96-B8B9-B3008289D59D}" type="slidenum">
              <a:t>&lt;#&gt;</a:t>
            </a:fld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733AC9-8E01-4272-B61E-05E220E0D8BE}" type="slidenum">
              <a:t>&lt;#&gt;</a:t>
            </a:fld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513C79-0C84-4E85-A5E2-8E491DA2ABD0}" type="slidenum">
              <a:t>&lt;#&gt;</a:t>
            </a:fld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392866-D448-41B7-B0F2-BEE9335E0C5E}" type="slidenum">
              <a:t>&lt;#&gt;</a:t>
            </a:fld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7B5065-1ED7-4862-B603-4A84C87647F6}" type="slidenum">
              <a:t>&lt;#&gt;</a:t>
            </a:fld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71863C-0501-43DB-9383-DB336CC8F4AC}" type="slidenum">
              <a:t>&lt;#&gt;</a:t>
            </a:fld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175FB0-9DF3-4D30-9F4B-B7B489F023A8}" type="slidenum">
              <a:t>&lt;#&gt;</a:t>
            </a:fld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ubTitle"/>
          </p:nvPr>
        </p:nvSpPr>
        <p:spPr>
          <a:xfrm>
            <a:off x="500400" y="1840320"/>
            <a:ext cx="7935120" cy="483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ru-RU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C93311F-5882-478B-8DF8-9864A362FD48}" type="slidenum">
              <a:rPr b="0" lang="ru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ru-RU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4440" y="1794240"/>
            <a:ext cx="7935120" cy="1554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ru-RU" sz="45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rgbClr val="6402ba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F31B5B9-434C-44B4-8243-ED5760B07C32}" type="slidenum">
              <a:rPr b="0" lang="ru" sz="1000" spc="-1" strike="noStrike">
                <a:solidFill>
                  <a:srgbClr val="6402ba"/>
                </a:solidFill>
                <a:latin typeface="Arial"/>
                <a:ea typeface="Arial"/>
              </a:rPr>
              <a:t>&lt;number&gt;</a:t>
            </a:fld>
            <a:endParaRPr b="0" lang="ru-RU" sz="1000" spc="-1" strike="noStrike"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610E132-F60B-429D-9BAF-478EA9DB0D53}" type="slidenum">
              <a:rPr b="0" lang="ru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ru-RU" sz="1000" spc="-1" strike="noStrike"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500400" y="821160"/>
            <a:ext cx="8520120" cy="1983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979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ru-RU" sz="31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ru-RU" sz="31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ru-RU" sz="31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500400" y="142632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8E9AF16-2CC0-4946-A348-EF4DD7F7CEB9}" type="slidenum">
              <a:rPr b="0" lang="ru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ru-RU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BCD596F-6B32-41B7-A303-5A3B669D1CA9}" type="slidenum">
              <a:rPr b="0" lang="ru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ru-RU" sz="1000" spc="-1" strike="noStrike">
              <a:latin typeface="Times New Roman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500400" y="1840320"/>
            <a:ext cx="7935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ru-RU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DA731C8-7111-425C-B6C6-ADB210F63CBF}" type="slidenum">
              <a:rPr b="0" lang="ru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ru-RU" sz="1000" spc="-1" strike="noStrike">
              <a:latin typeface="Times New Roman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ru-RU" sz="4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979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ru-RU" sz="31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129;p31"/>
          <p:cNvSpPr/>
          <p:nvPr/>
        </p:nvSpPr>
        <p:spPr>
          <a:xfrm>
            <a:off x="606240" y="1441080"/>
            <a:ext cx="7938360" cy="356472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ru-RU" sz="31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Google Shape;135;p33"/>
          <p:cNvSpPr/>
          <p:nvPr/>
        </p:nvSpPr>
        <p:spPr>
          <a:xfrm>
            <a:off x="590400" y="1365120"/>
            <a:ext cx="7988040" cy="34120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ru-RU" sz="31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Google Shape;140;p34"/>
          <p:cNvSpPr/>
          <p:nvPr/>
        </p:nvSpPr>
        <p:spPr>
          <a:xfrm>
            <a:off x="606240" y="2144160"/>
            <a:ext cx="7938360" cy="246420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6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6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6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6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6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4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7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8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146;p35" descr=""/>
          <p:cNvPicPr/>
          <p:nvPr/>
        </p:nvPicPr>
        <p:blipFill>
          <a:blip r:embed="rId1">
            <a:alphaModFix amt="75000"/>
          </a:blip>
          <a:srcRect l="18595" t="0" r="18589" b="0"/>
          <a:stretch/>
        </p:blipFill>
        <p:spPr>
          <a:xfrm>
            <a:off x="-75960" y="-2571840"/>
            <a:ext cx="9408240" cy="8360280"/>
          </a:xfrm>
          <a:prstGeom prst="rect">
            <a:avLst/>
          </a:prstGeom>
          <a:ln w="0">
            <a:noFill/>
          </a:ln>
        </p:spPr>
      </p:pic>
      <p:sp>
        <p:nvSpPr>
          <p:cNvPr id="466" name="Google Shape;147;p35"/>
          <p:cNvSpPr/>
          <p:nvPr/>
        </p:nvSpPr>
        <p:spPr>
          <a:xfrm>
            <a:off x="433080" y="1535040"/>
            <a:ext cx="75841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buNone/>
            </a:pPr>
            <a:r>
              <a:rPr b="1" lang="ru" sz="4000" spc="-1" strike="noStrike">
                <a:solidFill>
                  <a:srgbClr val="ffffff"/>
                </a:solidFill>
                <a:latin typeface="Roboto"/>
                <a:ea typeface="Roboto"/>
              </a:rPr>
              <a:t>Проектирование БД для управления личными финансами</a:t>
            </a:r>
            <a:endParaRPr b="0" lang="ru-RU" sz="4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7" name="Google Shape;148;p35" descr=""/>
          <p:cNvPicPr/>
          <p:nvPr/>
        </p:nvPicPr>
        <p:blipFill>
          <a:blip r:embed="rId2">
            <a:alphaModFix amt="75000"/>
          </a:blip>
          <a:stretch/>
        </p:blipFill>
        <p:spPr>
          <a:xfrm>
            <a:off x="7913880" y="268920"/>
            <a:ext cx="821880" cy="284400"/>
          </a:xfrm>
          <a:prstGeom prst="rect">
            <a:avLst/>
          </a:prstGeom>
          <a:ln w="0">
            <a:noFill/>
          </a:ln>
        </p:spPr>
      </p:pic>
      <p:sp>
        <p:nvSpPr>
          <p:cNvPr id="468" name="Google Shape;149;p35"/>
          <p:cNvSpPr/>
          <p:nvPr/>
        </p:nvSpPr>
        <p:spPr>
          <a:xfrm>
            <a:off x="629640" y="4138200"/>
            <a:ext cx="2920320" cy="42624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Google Shape;150;p35"/>
          <p:cNvSpPr/>
          <p:nvPr/>
        </p:nvSpPr>
        <p:spPr>
          <a:xfrm>
            <a:off x="540000" y="4127400"/>
            <a:ext cx="3254040" cy="44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" sz="1900" spc="-1" strike="noStrike">
                <a:solidFill>
                  <a:srgbClr val="ffffff"/>
                </a:solidFill>
                <a:latin typeface="Roboto Medium"/>
                <a:ea typeface="Roboto Medium"/>
              </a:rPr>
              <a:t>MS SQL Server Developer</a:t>
            </a:r>
            <a:endParaRPr b="0" lang="ru-RU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0" name="Google Shape;151;p35" descr=""/>
          <p:cNvPicPr/>
          <p:nvPr/>
        </p:nvPicPr>
        <p:blipFill>
          <a:blip r:embed="rId3">
            <a:alphaModFix amt="75000"/>
          </a:blip>
          <a:stretch/>
        </p:blipFill>
        <p:spPr>
          <a:xfrm>
            <a:off x="7409880" y="3083760"/>
            <a:ext cx="1548000" cy="166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744120" y="1422720"/>
            <a:ext cx="7935120" cy="14022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000" spc="-1" strike="noStrike">
                <a:solidFill>
                  <a:srgbClr val="000000"/>
                </a:solidFill>
                <a:latin typeface="Roboto"/>
                <a:ea typeface="Roboto"/>
              </a:rPr>
              <a:t>Меня хорошо видно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000" spc="-1" strike="noStrike">
                <a:solidFill>
                  <a:srgbClr val="000000"/>
                </a:solidFill>
                <a:latin typeface="Roboto"/>
                <a:ea typeface="Roboto"/>
              </a:rPr>
              <a:t>&amp; слышно?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2" name="Google Shape;157;p36" descr=""/>
          <p:cNvPicPr/>
          <p:nvPr/>
        </p:nvPicPr>
        <p:blipFill>
          <a:blip r:embed="rId1">
            <a:alphaModFix amt="75000"/>
          </a:blip>
          <a:stretch/>
        </p:blipFill>
        <p:spPr>
          <a:xfrm>
            <a:off x="1544040" y="3841200"/>
            <a:ext cx="545400" cy="545400"/>
          </a:xfrm>
          <a:prstGeom prst="rect">
            <a:avLst/>
          </a:prstGeom>
          <a:ln w="0">
            <a:noFill/>
          </a:ln>
        </p:spPr>
      </p:pic>
      <p:pic>
        <p:nvPicPr>
          <p:cNvPr id="473" name="Google Shape;158;p36" descr=""/>
          <p:cNvPicPr/>
          <p:nvPr/>
        </p:nvPicPr>
        <p:blipFill>
          <a:blip r:embed="rId2">
            <a:alphaModFix amt="75000"/>
          </a:blip>
          <a:stretch/>
        </p:blipFill>
        <p:spPr>
          <a:xfrm>
            <a:off x="825480" y="3890880"/>
            <a:ext cx="536760" cy="53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500400" y="313560"/>
            <a:ext cx="8520120" cy="184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Защита проекта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Тема: 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Google Shape;164;p37"/>
          <p:cNvSpPr/>
          <p:nvPr/>
        </p:nvSpPr>
        <p:spPr>
          <a:xfrm>
            <a:off x="630000" y="2085840"/>
            <a:ext cx="2349720" cy="23184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Google Shape;165;p37"/>
          <p:cNvSpPr/>
          <p:nvPr/>
        </p:nvSpPr>
        <p:spPr>
          <a:xfrm>
            <a:off x="3899520" y="2336400"/>
            <a:ext cx="402048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ru" sz="2300" spc="-1" strike="noStrike">
                <a:solidFill>
                  <a:srgbClr val="3f299a"/>
                </a:solidFill>
                <a:latin typeface="Roboto"/>
                <a:ea typeface="Roboto"/>
              </a:rPr>
              <a:t>Костромыгин Александр</a:t>
            </a:r>
            <a:endParaRPr b="0" lang="ru-RU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Google Shape;166;p37"/>
          <p:cNvSpPr/>
          <p:nvPr/>
        </p:nvSpPr>
        <p:spPr>
          <a:xfrm>
            <a:off x="3899520" y="2893320"/>
            <a:ext cx="4200480" cy="8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ru" sz="13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Системный аналитик 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ru" sz="13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Аналитик на проектах DWH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ru" sz="13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Опыт разработки инженерных  решений 10+лет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538560" y="34884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100" spc="-1" strike="noStrike">
                <a:solidFill>
                  <a:srgbClr val="000000"/>
                </a:solidFill>
                <a:latin typeface="Roboto"/>
                <a:ea typeface="Roboto"/>
              </a:rPr>
              <a:t>План защиты</a:t>
            </a:r>
            <a:endParaRPr b="0" lang="ru-RU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Google Shape;172;p38"/>
          <p:cNvSpPr/>
          <p:nvPr/>
        </p:nvSpPr>
        <p:spPr>
          <a:xfrm>
            <a:off x="1137960" y="149148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182880" bIns="1828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Цель и задачи проекта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Google Shape;173;p38"/>
          <p:cNvSpPr/>
          <p:nvPr/>
        </p:nvSpPr>
        <p:spPr>
          <a:xfrm>
            <a:off x="1137960" y="207144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182880" bIns="1828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Какие технологии использовались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Google Shape;174;p38"/>
          <p:cNvSpPr/>
          <p:nvPr/>
        </p:nvSpPr>
        <p:spPr>
          <a:xfrm>
            <a:off x="1137960" y="265176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182880" bIns="1828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Что получилось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Google Shape;175;p38"/>
          <p:cNvSpPr/>
          <p:nvPr/>
        </p:nvSpPr>
        <p:spPr>
          <a:xfrm>
            <a:off x="1137960" y="324612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182880" bIns="1828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Выводы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Google Shape;176;p38"/>
          <p:cNvSpPr/>
          <p:nvPr/>
        </p:nvSpPr>
        <p:spPr>
          <a:xfrm>
            <a:off x="1137960" y="1679400"/>
            <a:ext cx="360" cy="579960"/>
          </a:xfrm>
          <a:prstGeom prst="bentConnector3">
            <a:avLst>
              <a:gd name="adj1" fmla="val -39687500"/>
            </a:avLst>
          </a:prstGeom>
          <a:noFill/>
          <a:ln w="9525">
            <a:solidFill>
              <a:srgbClr val="3f299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4" name="Google Shape;177;p38"/>
          <p:cNvSpPr/>
          <p:nvPr/>
        </p:nvSpPr>
        <p:spPr>
          <a:xfrm>
            <a:off x="1137960" y="2259720"/>
            <a:ext cx="360" cy="579960"/>
          </a:xfrm>
          <a:prstGeom prst="bentConnector3">
            <a:avLst>
              <a:gd name="adj1" fmla="val -39687500"/>
            </a:avLst>
          </a:prstGeom>
          <a:noFill/>
          <a:ln w="9525">
            <a:solidFill>
              <a:srgbClr val="3f299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Google Shape;178;p38"/>
          <p:cNvSpPr/>
          <p:nvPr/>
        </p:nvSpPr>
        <p:spPr>
          <a:xfrm>
            <a:off x="1137960" y="2839680"/>
            <a:ext cx="360" cy="594360"/>
          </a:xfrm>
          <a:prstGeom prst="bentConnector3">
            <a:avLst>
              <a:gd name="adj1" fmla="val -39687500"/>
            </a:avLst>
          </a:prstGeom>
          <a:noFill/>
          <a:ln w="9525">
            <a:solidFill>
              <a:srgbClr val="3f299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Google Shape;179;p38"/>
          <p:cNvSpPr/>
          <p:nvPr/>
        </p:nvSpPr>
        <p:spPr>
          <a:xfrm>
            <a:off x="1137960" y="3434400"/>
            <a:ext cx="360" cy="526320"/>
          </a:xfrm>
          <a:prstGeom prst="bentConnector3">
            <a:avLst>
              <a:gd name="adj1" fmla="val -39687500"/>
            </a:avLst>
          </a:prstGeom>
          <a:noFill/>
          <a:ln w="9525">
            <a:solidFill>
              <a:srgbClr val="3f299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7" name="Google Shape;180;p38"/>
          <p:cNvSpPr/>
          <p:nvPr/>
        </p:nvSpPr>
        <p:spPr>
          <a:xfrm>
            <a:off x="1137960" y="377280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182880" bIns="1828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Вопросы и рекомендации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185;p39"/>
          <p:cNvSpPr/>
          <p:nvPr/>
        </p:nvSpPr>
        <p:spPr>
          <a:xfrm>
            <a:off x="560520" y="324720"/>
            <a:ext cx="8520120" cy="13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Цель и задачи проекта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Google Shape;187;p39"/>
          <p:cNvSpPr/>
          <p:nvPr/>
        </p:nvSpPr>
        <p:spPr>
          <a:xfrm>
            <a:off x="952920" y="1138320"/>
            <a:ext cx="6787080" cy="66168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5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Цель проекта: создание расширяемой базы данных для учёта, оперативного анализа, планирования личных финансов.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Google Shape;381;p 1"/>
          <p:cNvSpPr/>
          <p:nvPr/>
        </p:nvSpPr>
        <p:spPr>
          <a:xfrm>
            <a:off x="900000" y="2943360"/>
            <a:ext cx="5289480" cy="83664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Создание единого и достоверного источника финансовой правды для аналитики и планирования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Google Shape;381;p 3"/>
          <p:cNvSpPr/>
          <p:nvPr/>
        </p:nvSpPr>
        <p:spPr>
          <a:xfrm>
            <a:off x="2520000" y="3960000"/>
            <a:ext cx="5289480" cy="83664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Гарантия высокой производительности при обработке больших объемов данных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Разделение транзакционной и аналитической нагрузок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Google Shape;381;p 4"/>
          <p:cNvSpPr/>
          <p:nvPr/>
        </p:nvSpPr>
        <p:spPr>
          <a:xfrm>
            <a:off x="2450520" y="1980000"/>
            <a:ext cx="5289480" cy="770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Обеспечение 100% историчности и прослеживаемости данных 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185;p 1"/>
          <p:cNvSpPr/>
          <p:nvPr/>
        </p:nvSpPr>
        <p:spPr>
          <a:xfrm>
            <a:off x="560520" y="324720"/>
            <a:ext cx="8520120" cy="13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Требования к проекту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Google Shape;187;p 1"/>
          <p:cNvSpPr/>
          <p:nvPr/>
        </p:nvSpPr>
        <p:spPr>
          <a:xfrm>
            <a:off x="952920" y="1246320"/>
            <a:ext cx="6787080" cy="66168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5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Автономность: БД разворачивается и эксплуатируется на локальной ПЭВМ. Не требует постоянного администрирования.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Google Shape;187;p 2"/>
          <p:cNvSpPr/>
          <p:nvPr/>
        </p:nvSpPr>
        <p:spPr>
          <a:xfrm>
            <a:off x="952920" y="1980000"/>
            <a:ext cx="6787080" cy="66168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5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Локальная отказоустойчивость и транзакционная целостность: применение механизма транзакций как механизм устойчивости к внезапным отключениям.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Google Shape;187;p 3"/>
          <p:cNvSpPr/>
          <p:nvPr/>
        </p:nvSpPr>
        <p:spPr>
          <a:xfrm>
            <a:off x="952920" y="2758320"/>
            <a:ext cx="6787080" cy="66168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5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Эффективное использование ресурсов: применение оптимизированных индексов и секционирования.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Google Shape;187;p 4"/>
          <p:cNvSpPr/>
          <p:nvPr/>
        </p:nvSpPr>
        <p:spPr>
          <a:xfrm>
            <a:off x="952920" y="3478320"/>
            <a:ext cx="6787080" cy="84168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5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Локальная интеграция и простота выгрузки отчётности: пользователь может получить отчеты как в фиксированном виде (ОСВ), так и в пригодном к анализу – OLAP-кубе.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Какие технологии использовались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Google Shape;375;p 1"/>
          <p:cNvSpPr/>
          <p:nvPr/>
        </p:nvSpPr>
        <p:spPr>
          <a:xfrm>
            <a:off x="684000" y="1224000"/>
            <a:ext cx="5400720" cy="88704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000" spc="-1" strike="noStrike">
                <a:latin typeface="Roboto Medium"/>
                <a:ea typeface="Roboto Medium"/>
              </a:rPr>
              <a:t>MS SQL Server 2026 / T-SQL — основная реляционная СУБД. Проектирование таблиц, построение транзакционного буфера (слой STAGE) и реализация логики инкрементального сторнирования расчетов с помощью хранимых процедур и табличных функций (get_fBS, get_PL).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Google Shape;375;p 2"/>
          <p:cNvSpPr/>
          <p:nvPr/>
        </p:nvSpPr>
        <p:spPr>
          <a:xfrm>
            <a:off x="684000" y="2892960"/>
            <a:ext cx="5400720" cy="70704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000" spc="-1" strike="noStrike">
                <a:latin typeface="Roboto Medium"/>
                <a:ea typeface="Roboto Medium"/>
              </a:rPr>
              <a:t>Механизм секционирования таблиц (Table Partitioning) — встроенная технология SQL Server для физического разделения терабайтных таблиц фактов (в частности, FCT_CARRY) на годовые дисковые сегменты по ключу даты.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Google Shape;375;p 3"/>
          <p:cNvSpPr/>
          <p:nvPr/>
        </p:nvSpPr>
        <p:spPr>
          <a:xfrm>
            <a:off x="2303280" y="2136960"/>
            <a:ext cx="5400720" cy="70704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000" spc="-1" strike="noStrike">
                <a:latin typeface="Roboto Medium"/>
                <a:ea typeface="Roboto Medium"/>
              </a:rPr>
              <a:t>SSAS Cube Model (SQL Server Analysis Services) — специализированный сервер баз данных для аналитической обработки данных в оперативной памяти (In-Memory). Применялся для развертывания OLAP-куба по схеме «Звезда».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Google Shape;375;p 4"/>
          <p:cNvSpPr/>
          <p:nvPr/>
        </p:nvSpPr>
        <p:spPr>
          <a:xfrm>
            <a:off x="2493720" y="3636000"/>
            <a:ext cx="5400720" cy="7200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000" spc="-1" strike="noStrike">
                <a:latin typeface="Roboto Medium"/>
                <a:ea typeface="Roboto Medium"/>
              </a:rPr>
              <a:t>Microsoft Visual Studio (с расширением Analysis Services Projects) — основная интегрированная среда разработки (IDE) для проектирования архитектуры данных, настройки связей и деплоя табличной модели куба.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Типовой бизнес-процесс </a:t>
            </a:r>
            <a:br>
              <a:rPr sz="3000"/>
            </a:b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загрузки данных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4" name="" descr=""/>
          <p:cNvPicPr/>
          <p:nvPr/>
        </p:nvPicPr>
        <p:blipFill>
          <a:blip r:embed="rId1">
            <a:alphaModFix amt="75000"/>
          </a:blip>
          <a:stretch/>
        </p:blipFill>
        <p:spPr>
          <a:xfrm>
            <a:off x="596520" y="1800000"/>
            <a:ext cx="8043480" cy="214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Схема БД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6" name="" descr=""/>
          <p:cNvPicPr/>
          <p:nvPr/>
        </p:nvPicPr>
        <p:blipFill>
          <a:blip r:embed="rId1">
            <a:alphaModFix amt="75000"/>
          </a:blip>
          <a:stretch/>
        </p:blipFill>
        <p:spPr>
          <a:xfrm>
            <a:off x="2544840" y="198360"/>
            <a:ext cx="5735160" cy="466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Конвейер обработки данных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Google Shape;187;p 5"/>
          <p:cNvSpPr/>
          <p:nvPr/>
        </p:nvSpPr>
        <p:spPr>
          <a:xfrm>
            <a:off x="720000" y="1080000"/>
            <a:ext cx="7687080" cy="342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" sz="14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Процедуры автоматизации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`STAGE.LOAD_CARRY` (Регулярная загрузка): Позволяет обрабатывать данные текущего или предыдущего периода (флаг `previous period`) с автоматическим обогащением справочников и очисткой буфера.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`STAGE.LOAD_CARRY_INITIAL` (Первичная загрузка): Процедура пакетной миграции массивов исторических данных без учета расчетного периода.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`Accounting.CALC_BS` (Расчет баланса): Интеллектуальное ядро системы. Производит расчет P&amp;L (оборотов), подтягивает входящие остатки прошлых периодов и формирует исходящее сальдо в рамках транзакции повышенной безопасности (`XACT_ABORT ON`).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`STAGE.Генератор тестовых данных`: Инструмент симуляции транзакционной активности. Используется для генерации массивов тестовых данных. Умеет разделять контрагентов и договоры по признакам "только доход" / "только расход" для верификации бизнес-логики.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Схема БД (логическая стурктура)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Google Shape;187;p 6"/>
          <p:cNvSpPr/>
          <p:nvPr/>
        </p:nvSpPr>
        <p:spPr>
          <a:xfrm>
            <a:off x="720000" y="1085400"/>
            <a:ext cx="7687080" cy="3594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5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Таблица фактов (Проводки): `</a:t>
            </a:r>
            <a:r>
              <a:rPr b="1" lang="ru" sz="15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Accounting.FCT_CARRY`</a:t>
            </a:r>
            <a:br>
              <a:rPr sz="1500"/>
            </a:b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Содержит атомарные транзакции, точные числовые метрики `numeric(28,12)` и строгую привязку к аналитическим разрезам.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 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5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Таблица фактов (Витрина остатков): </a:t>
            </a:r>
            <a:r>
              <a:rPr b="1" lang="ru" sz="15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`Accounting.DM_REST`</a:t>
            </a:r>
            <a:br>
              <a:rPr sz="1500"/>
            </a:b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Инкрементальный снимок финансового состояния, хранящий кумулятивное сальдо.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 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5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Справочники (Измерения):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   </a:t>
            </a:r>
            <a:r>
              <a:rPr b="1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`Accounting.DIC_CLIENT` </a:t>
            </a: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— сквозной версионный реестр контрагентов.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   </a:t>
            </a: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`</a:t>
            </a:r>
            <a:r>
              <a:rPr b="1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Accounting.DIC_AGREEMENT</a:t>
            </a: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` — договоры, жестко связанные со своими владельцами (контрагентами).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   </a:t>
            </a: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`</a:t>
            </a:r>
            <a:r>
              <a:rPr b="1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Accounting.DIC_ACCOUNT</a:t>
            </a: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` — аналитические счета пользователей, типизированные по банковскому стандарту.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   </a:t>
            </a:r>
            <a:r>
              <a:rPr b="1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`Accounting.dic_period`</a:t>
            </a:r>
            <a:r>
              <a:rPr b="0" lang="ru" sz="1000" spc="-1" strike="noStrike">
                <a:solidFill>
                  <a:srgbClr val="000000"/>
                </a:solidFill>
                <a:latin typeface="Roboto Medium"/>
                <a:ea typeface="Roboto Medium"/>
              </a:rPr>
              <a:t> — системный календарь с фиксацией операционных границ («левая» и «правая» маржи).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Элементы надёжности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Google Shape;425;p 5"/>
          <p:cNvSpPr/>
          <p:nvPr/>
        </p:nvSpPr>
        <p:spPr>
          <a:xfrm>
            <a:off x="722160" y="1501560"/>
            <a:ext cx="2158920" cy="24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ru" sz="1300" spc="-1" strike="noStrike">
                <a:solidFill>
                  <a:srgbClr val="000000"/>
                </a:solidFill>
                <a:latin typeface="Roboto"/>
                <a:ea typeface="Roboto"/>
              </a:rPr>
              <a:t>Отказ от физического удаления: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300" spc="-1" strike="noStrike">
                <a:solidFill>
                  <a:srgbClr val="000000"/>
                </a:solidFill>
                <a:latin typeface="Roboto"/>
                <a:ea typeface="Roboto"/>
              </a:rPr>
              <a:t>Процедура расчета баланса `Accounting.CALC_BS` никогда не выполняет деструктивные команды `DELETE` или `TRUNCATE` над закрытым периодом.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Google Shape;425;p 6"/>
          <p:cNvSpPr/>
          <p:nvPr/>
        </p:nvSpPr>
        <p:spPr>
          <a:xfrm>
            <a:off x="3241080" y="1501560"/>
            <a:ext cx="2158920" cy="24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ru" sz="1300" spc="-1" strike="noStrike">
                <a:solidFill>
                  <a:srgbClr val="000000"/>
                </a:solidFill>
                <a:latin typeface="Roboto"/>
                <a:ea typeface="Roboto"/>
              </a:rPr>
              <a:t>Сторнирование вместо замены: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300" spc="-1" strike="noStrike">
                <a:solidFill>
                  <a:srgbClr val="000000"/>
                </a:solidFill>
                <a:latin typeface="Roboto"/>
                <a:ea typeface="Roboto"/>
              </a:rPr>
              <a:t>При повторном запуске расчета за один и тот же период система находит предыдущий расчет и автоматически дублирует его строки с инкрементальным коэффициентом `(-1.0)`.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Google Shape;425;p 7"/>
          <p:cNvSpPr/>
          <p:nvPr/>
        </p:nvSpPr>
        <p:spPr>
          <a:xfrm>
            <a:off x="6121080" y="1440000"/>
            <a:ext cx="2158920" cy="22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ru" sz="1300" spc="-1" strike="noStrike">
                <a:solidFill>
                  <a:srgbClr val="000000"/>
                </a:solidFill>
                <a:latin typeface="Roboto"/>
                <a:ea typeface="Roboto"/>
              </a:rPr>
              <a:t>Аудит изменений:</a:t>
            </a:r>
            <a:r>
              <a:rPr b="0" lang="ru" sz="1300" spc="-1" strike="noStrike">
                <a:solidFill>
                  <a:srgbClr val="000000"/>
                </a:solidFill>
                <a:latin typeface="Roboto"/>
                <a:ea typeface="Roboto"/>
              </a:rPr>
              <a:t> Каждая итерация расчетов маркируется уникальным `id_calc` Это позволяет восстановить финансовую картину на любой момент времени.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5" name="Google Shape;294;p 5" descr=""/>
          <p:cNvPicPr/>
          <p:nvPr/>
        </p:nvPicPr>
        <p:blipFill>
          <a:blip r:embed="rId1">
            <a:alphaModFix amt="75000"/>
          </a:blip>
          <a:stretch/>
        </p:blipFill>
        <p:spPr>
          <a:xfrm>
            <a:off x="721080" y="1150200"/>
            <a:ext cx="469800" cy="469800"/>
          </a:xfrm>
          <a:prstGeom prst="rect">
            <a:avLst/>
          </a:prstGeom>
          <a:ln w="0">
            <a:noFill/>
          </a:ln>
        </p:spPr>
      </p:pic>
      <p:pic>
        <p:nvPicPr>
          <p:cNvPr id="516" name="Google Shape;294;p 6" descr=""/>
          <p:cNvPicPr/>
          <p:nvPr/>
        </p:nvPicPr>
        <p:blipFill>
          <a:blip r:embed="rId2">
            <a:alphaModFix amt="75000"/>
          </a:blip>
          <a:stretch/>
        </p:blipFill>
        <p:spPr>
          <a:xfrm>
            <a:off x="3131280" y="1080000"/>
            <a:ext cx="469800" cy="469800"/>
          </a:xfrm>
          <a:prstGeom prst="rect">
            <a:avLst/>
          </a:prstGeom>
          <a:ln w="0">
            <a:noFill/>
          </a:ln>
        </p:spPr>
      </p:pic>
      <p:pic>
        <p:nvPicPr>
          <p:cNvPr id="517" name="Google Shape;294;p 7" descr=""/>
          <p:cNvPicPr/>
          <p:nvPr/>
        </p:nvPicPr>
        <p:blipFill>
          <a:blip r:embed="rId3">
            <a:alphaModFix amt="75000"/>
          </a:blip>
          <a:stretch/>
        </p:blipFill>
        <p:spPr>
          <a:xfrm>
            <a:off x="6011280" y="1080000"/>
            <a:ext cx="469800" cy="469800"/>
          </a:xfrm>
          <a:prstGeom prst="rect">
            <a:avLst/>
          </a:prstGeom>
          <a:ln w="0">
            <a:noFill/>
          </a:ln>
        </p:spPr>
      </p:pic>
      <p:sp>
        <p:nvSpPr>
          <p:cNvPr id="518" name="Google Shape;425;p 8"/>
          <p:cNvSpPr/>
          <p:nvPr/>
        </p:nvSpPr>
        <p:spPr>
          <a:xfrm>
            <a:off x="720000" y="3960000"/>
            <a:ext cx="774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ru" sz="1300" spc="-1" strike="noStrike">
                <a:solidFill>
                  <a:srgbClr val="000000"/>
                </a:solidFill>
                <a:latin typeface="Roboto"/>
                <a:ea typeface="Roboto"/>
              </a:rPr>
              <a:t>Простота консолидации</a:t>
            </a:r>
            <a:r>
              <a:rPr b="0" lang="ru" sz="1300" spc="-1" strike="noStrike">
                <a:solidFill>
                  <a:srgbClr val="000000"/>
                </a:solidFill>
                <a:latin typeface="Roboto"/>
                <a:ea typeface="Roboto"/>
              </a:rPr>
              <a:t>: Итоговый актуальный баланс на любую дату является результатом быстрого линейного суммирования `SUM([value])`, исключая сложные расчеты.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9" name="Google Shape;294;p 8" descr=""/>
          <p:cNvPicPr/>
          <p:nvPr/>
        </p:nvPicPr>
        <p:blipFill>
          <a:blip r:embed="rId4">
            <a:alphaModFix amt="75000"/>
          </a:blip>
          <a:stretch/>
        </p:blipFill>
        <p:spPr>
          <a:xfrm>
            <a:off x="360000" y="4030200"/>
            <a:ext cx="469800" cy="46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Элементы надёжности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1" name="Google Shape;507;p 1" descr=""/>
          <p:cNvPicPr/>
          <p:nvPr/>
        </p:nvPicPr>
        <p:blipFill>
          <a:blip r:embed="rId1">
            <a:alphaModFix amt="75000"/>
          </a:blip>
          <a:stretch/>
        </p:blipFill>
        <p:spPr>
          <a:xfrm>
            <a:off x="861480" y="1378800"/>
            <a:ext cx="1642680" cy="75492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522" name="Google Shape;508;p 1" descr=""/>
          <p:cNvPicPr/>
          <p:nvPr/>
        </p:nvPicPr>
        <p:blipFill>
          <a:blip r:embed="rId2">
            <a:alphaModFix amt="75000"/>
          </a:blip>
          <a:stretch/>
        </p:blipFill>
        <p:spPr>
          <a:xfrm>
            <a:off x="2707200" y="1378800"/>
            <a:ext cx="1642680" cy="75492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523" name="Google Shape;509;p 1" descr=""/>
          <p:cNvPicPr/>
          <p:nvPr/>
        </p:nvPicPr>
        <p:blipFill>
          <a:blip r:embed="rId3">
            <a:alphaModFix amt="75000"/>
          </a:blip>
          <a:stretch/>
        </p:blipFill>
        <p:spPr>
          <a:xfrm>
            <a:off x="4466520" y="1378800"/>
            <a:ext cx="1642680" cy="75492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524" name="Google Shape;510;p 1" descr=""/>
          <p:cNvPicPr/>
          <p:nvPr/>
        </p:nvPicPr>
        <p:blipFill>
          <a:blip r:embed="rId4">
            <a:alphaModFix amt="75000"/>
          </a:blip>
          <a:stretch/>
        </p:blipFill>
        <p:spPr>
          <a:xfrm>
            <a:off x="6285960" y="1378800"/>
            <a:ext cx="1642680" cy="75492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sp>
        <p:nvSpPr>
          <p:cNvPr id="525" name="Google Shape;512;p 1"/>
          <p:cNvSpPr/>
          <p:nvPr/>
        </p:nvSpPr>
        <p:spPr>
          <a:xfrm>
            <a:off x="1151640" y="1502280"/>
            <a:ext cx="1062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1500" spc="-1" strike="noStrike">
                <a:solidFill>
                  <a:srgbClr val="eeeeee"/>
                </a:solidFill>
                <a:latin typeface="Roboto"/>
                <a:ea typeface="Roboto"/>
              </a:rPr>
              <a:t>Расчёт 1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Google Shape;513;p 1"/>
          <p:cNvSpPr/>
          <p:nvPr/>
        </p:nvSpPr>
        <p:spPr>
          <a:xfrm>
            <a:off x="2997360" y="1502280"/>
            <a:ext cx="1062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1500" spc="-1" strike="noStrike">
                <a:solidFill>
                  <a:srgbClr val="eeeeee"/>
                </a:solidFill>
                <a:latin typeface="Roboto"/>
                <a:ea typeface="Roboto"/>
              </a:rPr>
              <a:t>Расчёт 2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Google Shape;514;p 1"/>
          <p:cNvSpPr/>
          <p:nvPr/>
        </p:nvSpPr>
        <p:spPr>
          <a:xfrm>
            <a:off x="4756680" y="1502280"/>
            <a:ext cx="1062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1500" spc="-1" strike="noStrike">
                <a:solidFill>
                  <a:srgbClr val="eeeeee"/>
                </a:solidFill>
                <a:latin typeface="Roboto"/>
                <a:ea typeface="Roboto"/>
              </a:rPr>
              <a:t>Расчёт 3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Google Shape;515;p 1"/>
          <p:cNvSpPr/>
          <p:nvPr/>
        </p:nvSpPr>
        <p:spPr>
          <a:xfrm>
            <a:off x="6480000" y="1502280"/>
            <a:ext cx="1260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1500" spc="-1" strike="noStrike">
                <a:solidFill>
                  <a:srgbClr val="eeeeee"/>
                </a:solidFill>
                <a:latin typeface="Roboto"/>
                <a:ea typeface="Roboto"/>
              </a:rPr>
              <a:t>Итоговый баланс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529" name="Google Shape;516;p 1"/>
          <p:cNvGraphicFramePr/>
          <p:nvPr/>
        </p:nvGraphicFramePr>
        <p:xfrm>
          <a:off x="861480" y="2674080"/>
          <a:ext cx="7238520" cy="380520"/>
        </p:xfrm>
        <a:graphic>
          <a:graphicData uri="http://schemas.openxmlformats.org/drawingml/2006/table">
            <a:tbl>
              <a:tblPr/>
              <a:tblGrid>
                <a:gridCol w="1809720"/>
                <a:gridCol w="1809720"/>
                <a:gridCol w="1809720"/>
                <a:gridCol w="1809720"/>
              </a:tblGrid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Проводка:</a:t>
                      </a:r>
                      <a:endParaRPr b="0" lang="ru-RU" sz="900" spc="-1" strike="noStrike">
                        <a:latin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+150 000 руб</a:t>
                      </a:r>
                      <a:endParaRPr b="0" lang="ru-RU" sz="900" spc="-1" strike="noStrike">
                        <a:latin typeface="Times New Roman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Сторно:</a:t>
                      </a:r>
                      <a:endParaRPr b="0" lang="ru-RU" sz="900" spc="-1" strike="noStrike">
                        <a:latin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-150 000 руб</a:t>
                      </a:r>
                      <a:endParaRPr b="0" lang="ru-RU" sz="900" spc="-1" strike="noStrike">
                        <a:latin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Новая проводка:</a:t>
                      </a:r>
                      <a:endParaRPr b="0" lang="ru-RU" sz="900" spc="-1" strike="noStrike">
                        <a:latin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+180 000 руб</a:t>
                      </a:r>
                      <a:endParaRPr b="0" lang="ru-RU" sz="900" spc="-1" strike="noStrike">
                        <a:latin typeface="Times New Roman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Сторно:</a:t>
                      </a:r>
                      <a:endParaRPr b="0" lang="ru-RU" sz="900" spc="-1" strike="noStrike">
                        <a:latin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-180 000 руб</a:t>
                      </a:r>
                      <a:endParaRPr b="0" lang="ru-RU" sz="900" spc="-1" strike="noStrike">
                        <a:latin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Новая проводка:</a:t>
                      </a:r>
                      <a:endParaRPr b="0" lang="ru-RU" sz="900" spc="-1" strike="noStrike">
                        <a:latin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+200 000 руб</a:t>
                      </a:r>
                      <a:endParaRPr b="0" lang="ru-RU" sz="900" spc="-1" strike="noStrike">
                        <a:latin typeface="Times New Roman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Простая сумма:</a:t>
                      </a:r>
                      <a:endParaRPr b="0" lang="ru-RU" sz="900" spc="-1" strike="noStrike">
                        <a:latin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+200 000 руб.</a:t>
                      </a:r>
                      <a:endParaRPr b="0" lang="ru-RU" sz="900" spc="-1" strike="noStrike">
                        <a:latin typeface="Times New Roman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rgbClr val="000000"/>
                </a:solidFill>
                <a:latin typeface="Roboto"/>
                <a:ea typeface="Roboto"/>
              </a:rPr>
              <a:t>Инструменты для бизнес-пользователей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1" name="" descr=""/>
          <p:cNvPicPr/>
          <p:nvPr/>
        </p:nvPicPr>
        <p:blipFill>
          <a:blip r:embed="rId1">
            <a:alphaModFix amt="75000"/>
          </a:blip>
          <a:stretch/>
        </p:blipFill>
        <p:spPr>
          <a:xfrm>
            <a:off x="6120000" y="900000"/>
            <a:ext cx="2665440" cy="1800000"/>
          </a:xfrm>
          <a:prstGeom prst="rect">
            <a:avLst/>
          </a:prstGeom>
          <a:ln w="0">
            <a:noFill/>
          </a:ln>
        </p:spPr>
      </p:pic>
      <p:sp>
        <p:nvSpPr>
          <p:cNvPr id="532" name=""/>
          <p:cNvSpPr txBox="1"/>
          <p:nvPr/>
        </p:nvSpPr>
        <p:spPr>
          <a:xfrm>
            <a:off x="417240" y="900000"/>
            <a:ext cx="3002760" cy="37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ru-RU" sz="1200" spc="-1" strike="noStrike">
                <a:latin typeface="Arial"/>
              </a:rPr>
              <a:t>Функция `Accounting.get_fBS`:</a:t>
            </a:r>
            <a:r>
              <a:rPr b="0" lang="ru-RU" sz="1200" spc="-1" strike="noStrike">
                <a:latin typeface="Arial"/>
              </a:rPr>
              <a:t> Возвращает агрегированный баланс по любой выбранной иерархии типов данных с возможностью раскрытия до конкретного договора.</a:t>
            </a:r>
            <a:endParaRPr b="0" lang="ru-RU" sz="1200" spc="-1" strike="noStrike">
              <a:latin typeface="Arial"/>
            </a:endParaRPr>
          </a:p>
          <a:p>
            <a:r>
              <a:rPr b="1" lang="ru-RU" sz="1200" spc="-1" strike="noStrike">
                <a:latin typeface="Arial"/>
              </a:rPr>
              <a:t>Функция `Accounting.get_PL`:</a:t>
            </a:r>
            <a:r>
              <a:rPr b="0" lang="ru-RU" sz="1200" spc="-1" strike="noStrike">
                <a:latin typeface="Arial"/>
              </a:rPr>
              <a:t> Изолирует чистые обороты за выбранный период (Доходы/Расходы), обращаясь напрямую к секционированному хранилищу транзакций.</a:t>
            </a:r>
            <a:endParaRPr b="0" lang="ru-RU" sz="1200" spc="-1" strike="noStrike">
              <a:latin typeface="Arial"/>
            </a:endParaRPr>
          </a:p>
          <a:p>
            <a:r>
              <a:rPr b="1" lang="ru-RU" sz="1200" spc="-1" strike="noStrike">
                <a:latin typeface="Arial"/>
              </a:rPr>
              <a:t>Оборотно-сальдовая ведомость (ОСВ)</a:t>
            </a:r>
            <a:r>
              <a:rPr b="0" lang="ru-RU" sz="1200" spc="-1" strike="noStrike">
                <a:latin typeface="Arial"/>
              </a:rPr>
              <a:t>: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Эталонный аналитический SQL-запрос, формирующий классическую бухгалтерскую "шахматку": `Входящее сальдо -&gt; Дебет (Приход) -&gt; Кредит (Расход) -&gt; Исходящее сальдо`.</a:t>
            </a:r>
            <a:endParaRPr b="0" lang="ru-RU" sz="1200" spc="-1" strike="noStrike">
              <a:latin typeface="Arial"/>
            </a:endParaRPr>
          </a:p>
        </p:txBody>
      </p:sp>
      <p:pic>
        <p:nvPicPr>
          <p:cNvPr id="533" name="" descr=""/>
          <p:cNvPicPr/>
          <p:nvPr/>
        </p:nvPicPr>
        <p:blipFill>
          <a:blip r:embed="rId2">
            <a:alphaModFix amt="75000"/>
          </a:blip>
          <a:stretch/>
        </p:blipFill>
        <p:spPr>
          <a:xfrm>
            <a:off x="3240000" y="1620000"/>
            <a:ext cx="4033080" cy="30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400" spc="-1" strike="noStrike">
                <a:solidFill>
                  <a:srgbClr val="000000"/>
                </a:solidFill>
                <a:latin typeface="Roboto"/>
                <a:ea typeface="Roboto"/>
              </a:rPr>
              <a:t>Развитие проекта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35" name="Google Shape;214;p42"/>
          <p:cNvGrpSpPr/>
          <p:nvPr/>
        </p:nvGrpSpPr>
        <p:grpSpPr>
          <a:xfrm>
            <a:off x="732600" y="1111320"/>
            <a:ext cx="7907400" cy="3388680"/>
            <a:chOff x="732600" y="1111320"/>
            <a:chExt cx="7907400" cy="3388680"/>
          </a:xfrm>
        </p:grpSpPr>
        <p:pic>
          <p:nvPicPr>
            <p:cNvPr id="536" name="Google Shape;215;p42" descr=""/>
            <p:cNvPicPr/>
            <p:nvPr/>
          </p:nvPicPr>
          <p:blipFill>
            <a:blip r:embed="rId1">
              <a:alphaModFix amt="75000"/>
            </a:blip>
            <a:stretch/>
          </p:blipFill>
          <p:spPr>
            <a:xfrm>
              <a:off x="732600" y="1111320"/>
              <a:ext cx="7907400" cy="3388680"/>
            </a:xfrm>
            <a:prstGeom prst="rect">
              <a:avLst/>
            </a:prstGeom>
            <a:ln w="0">
              <a:noFill/>
            </a:ln>
            <a:effectLst>
              <a:outerShdw algn="bl" blurRad="200160" dir="4197285" dist="28357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537" name="Google Shape;216;p42"/>
            <p:cNvSpPr/>
            <p:nvPr/>
          </p:nvSpPr>
          <p:spPr>
            <a:xfrm>
              <a:off x="1854360" y="1540080"/>
              <a:ext cx="6723000" cy="235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spAutoFit/>
            </a:bodyPr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</a:tabLst>
              </a:pPr>
              <a:r>
                <a:rPr b="0" lang="ru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Переход к полноценному Дт/Кт учету: Доработка структуры `FCT_CARRY` до классической двухсторонней бухгалтерской записи — внедрение полей `id_account_dbt` (дебет) и `id_account_crd` (кредит) взамен единого поля `id_account`.</a:t>
              </a:r>
              <a:endParaRPr b="0" lang="ru-RU" sz="1100" spc="-1" strike="noStrike">
                <a:solidFill>
                  <a:srgbClr val="ffffff"/>
                </a:solidFill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</a:tabLst>
              </a:pPr>
              <a:r>
                <a:rPr b="0" lang="ru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Внедрение подсистемы версионирования справочников (SCD Type 2): Реализация отслеживания изменений атрибутов контрагентов и счетов во времени с хранением интервалов валидности (`valid_to`).</a:t>
              </a:r>
              <a:endParaRPr b="0" lang="ru-RU" sz="1100" spc="-1" strike="noStrike">
                <a:solidFill>
                  <a:srgbClr val="ffffff"/>
                </a:solidFill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</a:tabLst>
              </a:pPr>
              <a:r>
                <a:rPr b="0" lang="ru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Автоматизация управления секциями (Partition Sliding Window):  * Написание системного SQL Agent Job для автоматической нарезки новых секций (`SPLIT`) на будущие годы и архивации старых секций.</a:t>
              </a:r>
              <a:endParaRPr b="0" lang="ru-RU" sz="1100" spc="-1" strike="noStrike">
                <a:solidFill>
                  <a:srgbClr val="ffffff"/>
                </a:solidFill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</a:tabLst>
              </a:pPr>
              <a:r>
                <a:rPr b="0" lang="ru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Развертывание корпоративного слоя BI: Построение интерактивных дашбордов в Power BI / Apache Superset напрямую над разработанной OLAP-моделью Analysis Services.</a:t>
              </a:r>
              <a:endParaRPr b="0" lang="ru-RU" sz="1100" spc="-1" strike="noStrike">
                <a:solidFill>
                  <a:srgbClr val="ffffff"/>
                </a:solidFill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</a:tabLst>
              </a:pPr>
              <a:r>
                <a:rPr b="0" lang="ru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Разграничение прав доступа (RLS): Внедрение Row-Level Security на уровне СУБД и куба для изоляции данных при переходе на многопользовательскую модель.</a:t>
              </a:r>
              <a:endParaRPr b="0" lang="ru-RU" sz="11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538" name="Google Shape;265;p 1" descr=""/>
          <p:cNvPicPr/>
          <p:nvPr/>
        </p:nvPicPr>
        <p:blipFill>
          <a:blip r:embed="rId2">
            <a:alphaModFix amt="75000"/>
          </a:blip>
          <a:stretch/>
        </p:blipFill>
        <p:spPr>
          <a:xfrm>
            <a:off x="1260000" y="3344040"/>
            <a:ext cx="555480" cy="55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400" spc="-1" strike="noStrike">
                <a:solidFill>
                  <a:srgbClr val="000000"/>
                </a:solidFill>
                <a:latin typeface="Roboto"/>
                <a:ea typeface="Roboto"/>
              </a:rPr>
              <a:t>Выводы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0" name="Google Shape;213;p 1"/>
          <p:cNvGraphicFramePr/>
          <p:nvPr/>
        </p:nvGraphicFramePr>
        <p:xfrm>
          <a:off x="734760" y="1290960"/>
          <a:ext cx="7238520" cy="152352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458280">
                <a:tc>
                  <a:txBody>
                    <a:bodyPr lIns="19800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b="0" lang="ru-RU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tIns="91080" bIns="91080" anchor="t">
                      <a:noAutofit/>
                    </a:bodyPr>
                    <a:p>
                      <a:r>
                        <a:rPr b="0" lang="ru-RU" sz="1800" spc="-1" strike="noStrike">
                          <a:latin typeface="Arial"/>
                        </a:rPr>
                        <a:t>Доказана жизнеспособность концепции. Получилось реализовать основные принципы учёта.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458280">
                <a:tc>
                  <a:txBody>
                    <a:bodyPr lIns="19800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ru-RU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tIns="91080" bIns="91080" anchor="t">
                      <a:noAutofit/>
                    </a:bodyPr>
                    <a:p>
                      <a:r>
                        <a:rPr b="0" lang="ru-RU" sz="1800" spc="-1" strike="noStrike">
                          <a:latin typeface="Arial"/>
                        </a:rPr>
                        <a:t>В решении заложен высокий потенциал развития отказоустойчивости (кластеризованные индексы, секционирование, инкрементальность и версионирование расчётов)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458280">
                <a:tc>
                  <a:txBody>
                    <a:bodyPr lIns="19800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b="0" lang="ru-RU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tIns="91080" bIns="91080" anchor="t">
                      <a:noAutofit/>
                    </a:bodyPr>
                    <a:p>
                      <a:r>
                        <a:rPr b="0" lang="ru-RU" sz="1800" spc="-1" strike="noStrike">
                          <a:latin typeface="Arial"/>
                        </a:rPr>
                        <a:t>Необходимо более чёткое планирование внедрения фичей. Нарезка на UserStory должна быть более равномерной по нагрузке.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380880">
                <a:tc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221;p43" descr=""/>
          <p:cNvPicPr/>
          <p:nvPr/>
        </p:nvPicPr>
        <p:blipFill>
          <a:blip r:embed="rId1">
            <a:alphaModFix amt="75000"/>
          </a:blip>
          <a:stretch/>
        </p:blipFill>
        <p:spPr>
          <a:xfrm>
            <a:off x="0" y="0"/>
            <a:ext cx="9215640" cy="5143320"/>
          </a:xfrm>
          <a:prstGeom prst="rect">
            <a:avLst/>
          </a:prstGeom>
          <a:ln w="0">
            <a:noFill/>
          </a:ln>
        </p:spPr>
      </p:pic>
      <p:sp>
        <p:nvSpPr>
          <p:cNvPr id="542" name="Google Shape;222;p43"/>
          <p:cNvSpPr/>
          <p:nvPr/>
        </p:nvSpPr>
        <p:spPr>
          <a:xfrm>
            <a:off x="387000" y="1844640"/>
            <a:ext cx="7584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" sz="4000" spc="-1" strike="noStrike">
                <a:solidFill>
                  <a:srgbClr val="ffffff"/>
                </a:solidFill>
                <a:latin typeface="Roboto"/>
                <a:ea typeface="Roboto"/>
              </a:rPr>
              <a:t>Вопросы и рекомендации</a:t>
            </a:r>
            <a:endParaRPr b="0" lang="ru-RU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Google Shape;223;p43"/>
          <p:cNvSpPr/>
          <p:nvPr/>
        </p:nvSpPr>
        <p:spPr>
          <a:xfrm>
            <a:off x="1214640" y="3061800"/>
            <a:ext cx="1927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если есть вопросы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Google Shape;224;p43"/>
          <p:cNvSpPr/>
          <p:nvPr/>
        </p:nvSpPr>
        <p:spPr>
          <a:xfrm>
            <a:off x="4934880" y="3061800"/>
            <a:ext cx="2145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если вопросов нет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Google Shape;225;p43"/>
          <p:cNvSpPr/>
          <p:nvPr/>
        </p:nvSpPr>
        <p:spPr>
          <a:xfrm>
            <a:off x="722880" y="2846520"/>
            <a:ext cx="4914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4300" spc="-1" strike="noStrike">
                <a:solidFill>
                  <a:srgbClr val="ffffff"/>
                </a:solidFill>
                <a:latin typeface="Roboto"/>
                <a:ea typeface="Roboto"/>
              </a:rPr>
              <a:t>+</a:t>
            </a:r>
            <a:endParaRPr b="0" lang="ru-RU" sz="4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Google Shape;226;p43"/>
          <p:cNvSpPr/>
          <p:nvPr/>
        </p:nvSpPr>
        <p:spPr>
          <a:xfrm>
            <a:off x="4443480" y="2846520"/>
            <a:ext cx="4914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4300" spc="-1" strike="noStrike">
                <a:solidFill>
                  <a:srgbClr val="ffffff"/>
                </a:solidFill>
                <a:latin typeface="Roboto"/>
                <a:ea typeface="Roboto"/>
              </a:rPr>
              <a:t>– </a:t>
            </a:r>
            <a:endParaRPr b="0" lang="ru-RU" sz="4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234;p44" descr=""/>
          <p:cNvPicPr/>
          <p:nvPr/>
        </p:nvPicPr>
        <p:blipFill>
          <a:blip r:embed="rId1">
            <a:alphaModFix amt="75000"/>
          </a:blip>
          <a:stretch/>
        </p:blipFill>
        <p:spPr>
          <a:xfrm>
            <a:off x="0" y="0"/>
            <a:ext cx="9215640" cy="5143320"/>
          </a:xfrm>
          <a:prstGeom prst="rect">
            <a:avLst/>
          </a:prstGeom>
          <a:ln w="0">
            <a:noFill/>
          </a:ln>
        </p:spPr>
      </p:pic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628920" y="1932480"/>
            <a:ext cx="7294680" cy="1955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5000" spc="-1" strike="noStrike">
                <a:solidFill>
                  <a:srgbClr val="ffffff"/>
                </a:solidFill>
                <a:latin typeface="Roboto"/>
                <a:ea typeface="Roboto"/>
              </a:rPr>
              <a:t>Спасибо за внимание!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9" name="Google Shape;236;p44" descr=""/>
          <p:cNvPicPr/>
          <p:nvPr/>
        </p:nvPicPr>
        <p:blipFill>
          <a:blip r:embed="rId2">
            <a:alphaModFix amt="75000"/>
          </a:blip>
          <a:stretch/>
        </p:blipFill>
        <p:spPr>
          <a:xfrm>
            <a:off x="6727320" y="231840"/>
            <a:ext cx="2270520" cy="304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241;p45" descr=""/>
          <p:cNvPicPr/>
          <p:nvPr/>
        </p:nvPicPr>
        <p:blipFill>
          <a:blip r:embed="rId1">
            <a:alphaModFix amt="75000"/>
          </a:blip>
          <a:stretch/>
        </p:blipFill>
        <p:spPr>
          <a:xfrm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>First Last</cp:lastModifiedBy>
  <dcterms:modified xsi:type="dcterms:W3CDTF">2026-10-04T03:35:29Z</dcterms:modified>
  <cp:revision>5</cp:revision>
  <dc:subject/>
  <dc:title/>
</cp:coreProperties>
</file>